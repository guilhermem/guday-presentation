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Outfit Black"/>
      <p:bold r:id="rId15"/>
    </p:embeddedFont>
    <p:embeddedFont>
      <p:font typeface="Outfit ExtraBold"/>
      <p:bold r:id="rId16"/>
    </p:embeddedFont>
    <p:embeddedFont>
      <p:font typeface="Poppins"/>
      <p:regular r:id="rId17"/>
      <p:bold r:id="rId18"/>
      <p:italic r:id="rId19"/>
      <p:boldItalic r:id="rId20"/>
    </p:embeddedFont>
    <p:embeddedFont>
      <p:font typeface="Poppins Light"/>
      <p:regular r:id="rId21"/>
      <p:bold r:id="rId22"/>
      <p:italic r:id="rId23"/>
      <p:boldItalic r:id="rId24"/>
    </p:embeddedFont>
    <p:embeddedFont>
      <p:font typeface="Outfit"/>
      <p:regular r:id="rId25"/>
      <p:bold r:id="rId26"/>
    </p:embeddedFont>
    <p:embeddedFont>
      <p:font typeface="Poppins Black"/>
      <p:bold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680069-4265-4CDA-A209-3993535E4D43}">
  <a:tblStyle styleId="{0C680069-4265-4CDA-A209-3993535E4D4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PoppinsLight-bold.fntdata"/><Relationship Id="rId21" Type="http://schemas.openxmlformats.org/officeDocument/2006/relationships/font" Target="fonts/PoppinsLight-regular.fntdata"/><Relationship Id="rId24" Type="http://schemas.openxmlformats.org/officeDocument/2006/relationships/font" Target="fonts/PoppinsLight-boldItalic.fntdata"/><Relationship Id="rId23" Type="http://schemas.openxmlformats.org/officeDocument/2006/relationships/font" Target="fonts/PoppinsLigh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utfit-bold.fntdata"/><Relationship Id="rId25" Type="http://schemas.openxmlformats.org/officeDocument/2006/relationships/font" Target="fonts/Outfit-regular.fntdata"/><Relationship Id="rId28" Type="http://schemas.openxmlformats.org/officeDocument/2006/relationships/font" Target="fonts/PoppinsBlack-boldItalic.fntdata"/><Relationship Id="rId27" Type="http://schemas.openxmlformats.org/officeDocument/2006/relationships/font" Target="fonts/Poppins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OutfitBlack-bold.fntdata"/><Relationship Id="rId14" Type="http://schemas.openxmlformats.org/officeDocument/2006/relationships/slide" Target="slides/slide8.xml"/><Relationship Id="rId17" Type="http://schemas.openxmlformats.org/officeDocument/2006/relationships/font" Target="fonts/Poppins-regular.fntdata"/><Relationship Id="rId16" Type="http://schemas.openxmlformats.org/officeDocument/2006/relationships/font" Target="fonts/OutfitExtraBold-bold.fntdata"/><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nalytics.google.com/analytics/web/?authuser=1#/analysis/p488534709/edit/tX2XiW5IRjWGxxRTuspHtA"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nalytics.google.com/analytics/web/?authuser=1#/analysis/p488534709/edit/tX2XiW5IRjWGxxRTuspHtA"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dmin.shopify.com/store/sexandcoffee-5740/analytics/reports/sessions_by_referrer?ql=FROM+sessions%0A++SHOW+online_store_visitors%2C+sessions%2C+bounce_rate%2C+average_session_duration%2C%0A++++sessions_that_completed_checkout%0A++GROUP+BY+referrer_source%2C+referring_platform+WITH+TOTALS%0A++SINCE+startOfDay%28-7d%29+UNTIL+today%0A++ORDER+BY+sessions+DESC%0A++LIMIT+1000%0AVISUALIZE+sessions+TYPE+horizontal_bar"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3Q8uExUy2L2uek5RyF7kZT9DsF1P0MqKh_rdmCnDzCA/edit?gid=1213436519#gid=1213436519" TargetMode="External"/><Relationship Id="rId3" Type="http://schemas.openxmlformats.org/officeDocument/2006/relationships/hyperlink" Target="https://analytics.google.com/analytics/web/?authuser=1#/analysis/p376534431/edit/son_8Z7eRIiXRLSwUk5D2Q"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5ed3161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5ed3161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5ed316191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5ed316191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5ed316191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5ed316191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5ed31619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5ed31619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https://analytics.google.com/analytics/web/?authuser=1#/analysis/p488534709/edit/tX2XiW5IRjWGxxRTuspHtA</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5ed31619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5ed31619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https://analytics.google.com/analytics/web/?authuser=1#/analysis/p488534709/edit/tX2XiW5IRjWGxxRTuspHtA</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5ed31619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5ed31619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https://analytics.google.com/analytics/web/#/analysis/p333130545/edit/NW8R1XnPRNuY_ZLQ6M9cRA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5ed316191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5ed316191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admin.shopify.com/store/sexandcoffee-5740/analytics/reports/sessions_by_referrer?ql=FROM+sessions%0A++SHOW+online_store_visitors%2C+sessions%2C+bounce_rate%2C+average_session_duration%2C%0A++++sessions_that_completed_checkout%0A++GROUP+BY+referrer_source%2C+referring_platform+WITH+TOTALS%0A++SINCE+startOfDay%28-7d%29+UNTIL+today%0A++ORDER+BY+sessions+DESC%0A++LIMIT+1000%0AVISUALIZE+sessions+TYPE+horizontal_bar</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5ed316191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d5ed316191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https://docs.google.com/spreadsheets/d/13Q8uExUy2L2uek5RyF7kZT9DsF1P0MqKh_rdmCnDzCA/edit?gid=1213436519#gid=1213436519</a:t>
            </a:r>
            <a:endParaRPr/>
          </a:p>
          <a:p>
            <a:pPr indent="0" lvl="0" marL="0" rtl="0" algn="l">
              <a:spcBef>
                <a:spcPts val="0"/>
              </a:spcBef>
              <a:spcAft>
                <a:spcPts val="0"/>
              </a:spcAft>
              <a:buNone/>
            </a:pPr>
            <a:r>
              <a:rPr lang="en" u="sng">
                <a:solidFill>
                  <a:schemeClr val="hlink"/>
                </a:solidFill>
                <a:hlinkClick r:id="rId3"/>
              </a:rPr>
              <a:t>https://analytics.google.com/analytics/web/?authuser=1#/analysis/p376534431/edit/son_8Z7eRIiXRLSwUk5D2Q</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3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png"/><Relationship Id="rId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png"/><Relationship Id="rId4"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3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png"/><Relationship Id="rId4"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png"/><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White  1">
  <p:cSld name="BLANK_2_1_1">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25850" y="814975"/>
            <a:ext cx="3647025" cy="4259649"/>
          </a:xfrm>
          <a:prstGeom prst="rect">
            <a:avLst/>
          </a:prstGeom>
          <a:noFill/>
          <a:ln>
            <a:noFill/>
          </a:ln>
        </p:spPr>
      </p:pic>
      <p:pic>
        <p:nvPicPr>
          <p:cNvPr id="52" name="Google Shape;52;p13"/>
          <p:cNvPicPr preferRelativeResize="0"/>
          <p:nvPr/>
        </p:nvPicPr>
        <p:blipFill>
          <a:blip r:embed="rId3">
            <a:alphaModFix/>
          </a:blip>
          <a:stretch>
            <a:fillRect/>
          </a:stretch>
        </p:blipFill>
        <p:spPr>
          <a:xfrm>
            <a:off x="8279000" y="4739400"/>
            <a:ext cx="806650" cy="246025"/>
          </a:xfrm>
          <a:prstGeom prst="rect">
            <a:avLst/>
          </a:prstGeom>
          <a:noFill/>
          <a:ln>
            <a:noFill/>
          </a:ln>
        </p:spPr>
      </p:pic>
      <p:pic>
        <p:nvPicPr>
          <p:cNvPr id="53" name="Google Shape;53;p13"/>
          <p:cNvPicPr preferRelativeResize="0"/>
          <p:nvPr/>
        </p:nvPicPr>
        <p:blipFill>
          <a:blip r:embed="rId4">
            <a:alphaModFix/>
          </a:blip>
          <a:stretch>
            <a:fillRect/>
          </a:stretch>
        </p:blipFill>
        <p:spPr>
          <a:xfrm>
            <a:off x="0" y="5076250"/>
            <a:ext cx="9143999" cy="67245"/>
          </a:xfrm>
          <a:prstGeom prst="rect">
            <a:avLst/>
          </a:prstGeom>
          <a:noFill/>
          <a:ln>
            <a:noFill/>
          </a:ln>
        </p:spPr>
      </p:pic>
      <p:pic>
        <p:nvPicPr>
          <p:cNvPr id="54" name="Google Shape;54;p13"/>
          <p:cNvPicPr preferRelativeResize="0"/>
          <p:nvPr/>
        </p:nvPicPr>
        <p:blipFill>
          <a:blip r:embed="rId5">
            <a:alphaModFix amt="10000"/>
          </a:blip>
          <a:stretch>
            <a:fillRect/>
          </a:stretch>
        </p:blipFill>
        <p:spPr>
          <a:xfrm>
            <a:off x="4488575" y="37625"/>
            <a:ext cx="5144400" cy="4005725"/>
          </a:xfrm>
          <a:prstGeom prst="rect">
            <a:avLst/>
          </a:prstGeom>
          <a:noFill/>
          <a:ln>
            <a:noFill/>
          </a:ln>
        </p:spPr>
      </p:pic>
      <p:pic>
        <p:nvPicPr>
          <p:cNvPr id="55" name="Google Shape;55;p13"/>
          <p:cNvPicPr preferRelativeResize="0"/>
          <p:nvPr/>
        </p:nvPicPr>
        <p:blipFill>
          <a:blip r:embed="rId6">
            <a:alphaModFix/>
          </a:blip>
          <a:stretch>
            <a:fillRect/>
          </a:stretch>
        </p:blipFill>
        <p:spPr>
          <a:xfrm>
            <a:off x="0" y="743925"/>
            <a:ext cx="3647025" cy="4259649"/>
          </a:xfrm>
          <a:prstGeom prst="rect">
            <a:avLst/>
          </a:prstGeom>
          <a:noFill/>
          <a:ln>
            <a:noFill/>
          </a:ln>
        </p:spPr>
      </p:pic>
      <p:sp>
        <p:nvSpPr>
          <p:cNvPr id="56" name="Google Shape;56;p13"/>
          <p:cNvSpPr txBox="1"/>
          <p:nvPr>
            <p:ph type="ctrTitle"/>
          </p:nvPr>
        </p:nvSpPr>
        <p:spPr>
          <a:xfrm>
            <a:off x="554475" y="1757100"/>
            <a:ext cx="5479200" cy="1629300"/>
          </a:xfrm>
          <a:prstGeom prst="rect">
            <a:avLst/>
          </a:prstGeom>
        </p:spPr>
        <p:txBody>
          <a:bodyPr anchorCtr="0" anchor="t" bIns="91425" lIns="91425" spcFirstLastPara="1" rIns="91425" wrap="square" tIns="91425">
            <a:normAutofit/>
          </a:bodyPr>
          <a:lstStyle>
            <a:lvl1pPr lvl="0">
              <a:spcBef>
                <a:spcPts val="0"/>
              </a:spcBef>
              <a:spcAft>
                <a:spcPts val="0"/>
              </a:spcAft>
              <a:buClr>
                <a:srgbClr val="0D4162"/>
              </a:buClr>
              <a:buSzPts val="4000"/>
              <a:buFont typeface="Outfit Black"/>
              <a:buNone/>
              <a:defRPr b="0" sz="4000">
                <a:solidFill>
                  <a:srgbClr val="0D4162"/>
                </a:solidFill>
                <a:latin typeface="Outfit Black"/>
                <a:ea typeface="Outfit Black"/>
                <a:cs typeface="Outfit Black"/>
                <a:sym typeface="Outfit Black"/>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Green  2 2">
  <p:cSld name="BLANK_1_2_2">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8279000" y="4739400"/>
            <a:ext cx="806650" cy="246025"/>
          </a:xfrm>
          <a:prstGeom prst="rect">
            <a:avLst/>
          </a:prstGeom>
          <a:noFill/>
          <a:ln>
            <a:noFill/>
          </a:ln>
        </p:spPr>
      </p:pic>
      <p:pic>
        <p:nvPicPr>
          <p:cNvPr id="59" name="Google Shape;59;p14"/>
          <p:cNvPicPr preferRelativeResize="0"/>
          <p:nvPr/>
        </p:nvPicPr>
        <p:blipFill>
          <a:blip r:embed="rId3">
            <a:alphaModFix/>
          </a:blip>
          <a:stretch>
            <a:fillRect/>
          </a:stretch>
        </p:blipFill>
        <p:spPr>
          <a:xfrm>
            <a:off x="0" y="5076250"/>
            <a:ext cx="9143999" cy="67245"/>
          </a:xfrm>
          <a:prstGeom prst="rect">
            <a:avLst/>
          </a:prstGeom>
          <a:noFill/>
          <a:ln>
            <a:noFill/>
          </a:ln>
        </p:spPr>
      </p:pic>
      <p:pic>
        <p:nvPicPr>
          <p:cNvPr id="60" name="Google Shape;60;p14"/>
          <p:cNvPicPr preferRelativeResize="0"/>
          <p:nvPr/>
        </p:nvPicPr>
        <p:blipFill>
          <a:blip r:embed="rId4">
            <a:alphaModFix amt="10000"/>
          </a:blip>
          <a:stretch>
            <a:fillRect/>
          </a:stretch>
        </p:blipFill>
        <p:spPr>
          <a:xfrm>
            <a:off x="4488575" y="37625"/>
            <a:ext cx="5144400" cy="4005725"/>
          </a:xfrm>
          <a:prstGeom prst="rect">
            <a:avLst/>
          </a:prstGeom>
          <a:noFill/>
          <a:ln>
            <a:noFill/>
          </a:ln>
        </p:spPr>
      </p:pic>
      <p:sp>
        <p:nvSpPr>
          <p:cNvPr id="61" name="Google Shape;61;p14"/>
          <p:cNvSpPr txBox="1"/>
          <p:nvPr>
            <p:ph type="title"/>
          </p:nvPr>
        </p:nvSpPr>
        <p:spPr>
          <a:xfrm>
            <a:off x="311700" y="215075"/>
            <a:ext cx="7641000" cy="5412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0D4162"/>
              </a:buClr>
              <a:buSzPts val="3000"/>
              <a:buFont typeface="Outfit Black"/>
              <a:buNone/>
              <a:defRPr b="0" sz="3000">
                <a:solidFill>
                  <a:srgbClr val="0D4162"/>
                </a:solidFill>
                <a:latin typeface="Outfit Black"/>
                <a:ea typeface="Outfit Black"/>
                <a:cs typeface="Outfit Black"/>
                <a:sym typeface="Outfit Black"/>
              </a:defRPr>
            </a:lvl1pPr>
            <a:lvl2pPr lvl="1"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2pPr>
            <a:lvl3pPr lvl="2"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3pPr>
            <a:lvl4pPr lvl="3"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4pPr>
            <a:lvl5pPr lvl="4"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5pPr>
            <a:lvl6pPr lvl="5"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6pPr>
            <a:lvl7pPr lvl="6"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7pPr>
            <a:lvl8pPr lvl="7"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8pPr>
            <a:lvl9pPr lvl="8"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Logo">
  <p:cSld name="BLANK_2_2">
    <p:spTree>
      <p:nvGrpSpPr>
        <p:cNvPr id="62" name="Shape 62"/>
        <p:cNvGrpSpPr/>
        <p:nvPr/>
      </p:nvGrpSpPr>
      <p:grpSpPr>
        <a:xfrm>
          <a:off x="0" y="0"/>
          <a:ext cx="0" cy="0"/>
          <a:chOff x="0" y="0"/>
          <a:chExt cx="0" cy="0"/>
        </a:xfrm>
      </p:grpSpPr>
      <p:pic>
        <p:nvPicPr>
          <p:cNvPr id="63" name="Google Shape;63;p15"/>
          <p:cNvPicPr preferRelativeResize="0"/>
          <p:nvPr/>
        </p:nvPicPr>
        <p:blipFill>
          <a:blip r:embed="rId2">
            <a:alphaModFix/>
          </a:blip>
          <a:stretch>
            <a:fillRect/>
          </a:stretch>
        </p:blipFill>
        <p:spPr>
          <a:xfrm>
            <a:off x="-25850" y="814975"/>
            <a:ext cx="3647025" cy="4259649"/>
          </a:xfrm>
          <a:prstGeom prst="rect">
            <a:avLst/>
          </a:prstGeom>
          <a:noFill/>
          <a:ln>
            <a:noFill/>
          </a:ln>
        </p:spPr>
      </p:pic>
      <p:pic>
        <p:nvPicPr>
          <p:cNvPr id="64" name="Google Shape;64;p15"/>
          <p:cNvPicPr preferRelativeResize="0"/>
          <p:nvPr/>
        </p:nvPicPr>
        <p:blipFill>
          <a:blip r:embed="rId3">
            <a:alphaModFix/>
          </a:blip>
          <a:stretch>
            <a:fillRect/>
          </a:stretch>
        </p:blipFill>
        <p:spPr>
          <a:xfrm>
            <a:off x="8279000" y="4739400"/>
            <a:ext cx="806650" cy="246025"/>
          </a:xfrm>
          <a:prstGeom prst="rect">
            <a:avLst/>
          </a:prstGeom>
          <a:noFill/>
          <a:ln>
            <a:noFill/>
          </a:ln>
        </p:spPr>
      </p:pic>
      <p:pic>
        <p:nvPicPr>
          <p:cNvPr id="65" name="Google Shape;65;p15"/>
          <p:cNvPicPr preferRelativeResize="0"/>
          <p:nvPr/>
        </p:nvPicPr>
        <p:blipFill>
          <a:blip r:embed="rId4">
            <a:alphaModFix/>
          </a:blip>
          <a:stretch>
            <a:fillRect/>
          </a:stretch>
        </p:blipFill>
        <p:spPr>
          <a:xfrm>
            <a:off x="0" y="5076250"/>
            <a:ext cx="9143999" cy="67245"/>
          </a:xfrm>
          <a:prstGeom prst="rect">
            <a:avLst/>
          </a:prstGeom>
          <a:noFill/>
          <a:ln>
            <a:noFill/>
          </a:ln>
        </p:spPr>
      </p:pic>
      <p:pic>
        <p:nvPicPr>
          <p:cNvPr id="66" name="Google Shape;66;p15"/>
          <p:cNvPicPr preferRelativeResize="0"/>
          <p:nvPr/>
        </p:nvPicPr>
        <p:blipFill>
          <a:blip r:embed="rId5">
            <a:alphaModFix amt="10000"/>
          </a:blip>
          <a:stretch>
            <a:fillRect/>
          </a:stretch>
        </p:blipFill>
        <p:spPr>
          <a:xfrm>
            <a:off x="4897650" y="0"/>
            <a:ext cx="4246349" cy="3306450"/>
          </a:xfrm>
          <a:prstGeom prst="rect">
            <a:avLst/>
          </a:prstGeom>
          <a:noFill/>
          <a:ln>
            <a:noFill/>
          </a:ln>
        </p:spPr>
      </p:pic>
      <p:sp>
        <p:nvSpPr>
          <p:cNvPr id="67" name="Google Shape;67;p15"/>
          <p:cNvSpPr txBox="1"/>
          <p:nvPr>
            <p:ph type="title"/>
          </p:nvPr>
        </p:nvSpPr>
        <p:spPr>
          <a:xfrm>
            <a:off x="311700" y="215075"/>
            <a:ext cx="7641000" cy="5412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001641"/>
              </a:buClr>
              <a:buSzPts val="3000"/>
              <a:buFont typeface="Outfit Black"/>
              <a:buNone/>
              <a:defRPr b="0" sz="3000">
                <a:solidFill>
                  <a:srgbClr val="001641"/>
                </a:solidFill>
                <a:latin typeface="Outfit Black"/>
                <a:ea typeface="Outfit Black"/>
                <a:cs typeface="Outfit Black"/>
                <a:sym typeface="Outfit Black"/>
              </a:defRPr>
            </a:lvl1pPr>
            <a:lvl2pPr lvl="1"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2pPr>
            <a:lvl3pPr lvl="2"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3pPr>
            <a:lvl4pPr lvl="3"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4pPr>
            <a:lvl5pPr lvl="4"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5pPr>
            <a:lvl6pPr lvl="5"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6pPr>
            <a:lvl7pPr lvl="6"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7pPr>
            <a:lvl8pPr lvl="7"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8pPr>
            <a:lvl9pPr lvl="8"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Green  2">
  <p:cSld name="BLANK_1_2_3">
    <p:spTree>
      <p:nvGrpSpPr>
        <p:cNvPr id="68" name="Shape 68"/>
        <p:cNvGrpSpPr/>
        <p:nvPr/>
      </p:nvGrpSpPr>
      <p:grpSpPr>
        <a:xfrm>
          <a:off x="0" y="0"/>
          <a:ext cx="0" cy="0"/>
          <a:chOff x="0" y="0"/>
          <a:chExt cx="0" cy="0"/>
        </a:xfrm>
      </p:grpSpPr>
      <p:pic>
        <p:nvPicPr>
          <p:cNvPr id="69" name="Google Shape;69;p16"/>
          <p:cNvPicPr preferRelativeResize="0"/>
          <p:nvPr/>
        </p:nvPicPr>
        <p:blipFill>
          <a:blip r:embed="rId2">
            <a:alphaModFix/>
          </a:blip>
          <a:stretch>
            <a:fillRect/>
          </a:stretch>
        </p:blipFill>
        <p:spPr>
          <a:xfrm>
            <a:off x="8279000" y="4739400"/>
            <a:ext cx="806650" cy="246025"/>
          </a:xfrm>
          <a:prstGeom prst="rect">
            <a:avLst/>
          </a:prstGeom>
          <a:noFill/>
          <a:ln>
            <a:noFill/>
          </a:ln>
        </p:spPr>
      </p:pic>
      <p:pic>
        <p:nvPicPr>
          <p:cNvPr id="70" name="Google Shape;70;p16"/>
          <p:cNvPicPr preferRelativeResize="0"/>
          <p:nvPr/>
        </p:nvPicPr>
        <p:blipFill>
          <a:blip r:embed="rId3">
            <a:alphaModFix/>
          </a:blip>
          <a:stretch>
            <a:fillRect/>
          </a:stretch>
        </p:blipFill>
        <p:spPr>
          <a:xfrm>
            <a:off x="0" y="5076250"/>
            <a:ext cx="9143999" cy="67245"/>
          </a:xfrm>
          <a:prstGeom prst="rect">
            <a:avLst/>
          </a:prstGeom>
          <a:noFill/>
          <a:ln>
            <a:noFill/>
          </a:ln>
        </p:spPr>
      </p:pic>
      <p:pic>
        <p:nvPicPr>
          <p:cNvPr id="71" name="Google Shape;71;p16"/>
          <p:cNvPicPr preferRelativeResize="0"/>
          <p:nvPr/>
        </p:nvPicPr>
        <p:blipFill>
          <a:blip r:embed="rId4">
            <a:alphaModFix amt="10000"/>
          </a:blip>
          <a:stretch>
            <a:fillRect/>
          </a:stretch>
        </p:blipFill>
        <p:spPr>
          <a:xfrm>
            <a:off x="4488575" y="37625"/>
            <a:ext cx="5144400" cy="4005725"/>
          </a:xfrm>
          <a:prstGeom prst="rect">
            <a:avLst/>
          </a:prstGeom>
          <a:noFill/>
          <a:ln>
            <a:noFill/>
          </a:ln>
        </p:spPr>
      </p:pic>
      <p:sp>
        <p:nvSpPr>
          <p:cNvPr id="72" name="Google Shape;72;p16"/>
          <p:cNvSpPr txBox="1"/>
          <p:nvPr>
            <p:ph type="title"/>
          </p:nvPr>
        </p:nvSpPr>
        <p:spPr>
          <a:xfrm>
            <a:off x="311700" y="215075"/>
            <a:ext cx="7641000" cy="5412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0D4162"/>
              </a:buClr>
              <a:buSzPts val="3000"/>
              <a:buFont typeface="Outfit Black"/>
              <a:buNone/>
              <a:defRPr b="0" sz="3000">
                <a:solidFill>
                  <a:srgbClr val="0D4162"/>
                </a:solidFill>
                <a:latin typeface="Outfit Black"/>
                <a:ea typeface="Outfit Black"/>
                <a:cs typeface="Outfit Black"/>
                <a:sym typeface="Outfit Black"/>
              </a:defRPr>
            </a:lvl1pPr>
            <a:lvl2pPr lvl="1"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2pPr>
            <a:lvl3pPr lvl="2"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3pPr>
            <a:lvl4pPr lvl="3"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4pPr>
            <a:lvl5pPr lvl="4"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5pPr>
            <a:lvl6pPr lvl="5"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6pPr>
            <a:lvl7pPr lvl="6"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7pPr>
            <a:lvl8pPr lvl="7"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8pPr>
            <a:lvl9pPr lvl="8"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1 1">
  <p:cSld name="BLANK_2_3">
    <p:spTree>
      <p:nvGrpSpPr>
        <p:cNvPr id="73" name="Shape 73"/>
        <p:cNvGrpSpPr/>
        <p:nvPr/>
      </p:nvGrpSpPr>
      <p:grpSpPr>
        <a:xfrm>
          <a:off x="0" y="0"/>
          <a:ext cx="0" cy="0"/>
          <a:chOff x="0" y="0"/>
          <a:chExt cx="0" cy="0"/>
        </a:xfrm>
      </p:grpSpPr>
      <p:pic>
        <p:nvPicPr>
          <p:cNvPr id="74" name="Google Shape;74;p17"/>
          <p:cNvPicPr preferRelativeResize="0"/>
          <p:nvPr/>
        </p:nvPicPr>
        <p:blipFill>
          <a:blip r:embed="rId2">
            <a:alphaModFix/>
          </a:blip>
          <a:stretch>
            <a:fillRect/>
          </a:stretch>
        </p:blipFill>
        <p:spPr>
          <a:xfrm>
            <a:off x="-25850" y="814975"/>
            <a:ext cx="3647025" cy="4259649"/>
          </a:xfrm>
          <a:prstGeom prst="rect">
            <a:avLst/>
          </a:prstGeom>
          <a:noFill/>
          <a:ln>
            <a:noFill/>
          </a:ln>
        </p:spPr>
      </p:pic>
      <p:pic>
        <p:nvPicPr>
          <p:cNvPr id="75" name="Google Shape;75;p17"/>
          <p:cNvPicPr preferRelativeResize="0"/>
          <p:nvPr/>
        </p:nvPicPr>
        <p:blipFill>
          <a:blip r:embed="rId3">
            <a:alphaModFix/>
          </a:blip>
          <a:stretch>
            <a:fillRect/>
          </a:stretch>
        </p:blipFill>
        <p:spPr>
          <a:xfrm>
            <a:off x="8279000" y="4739400"/>
            <a:ext cx="806650" cy="246025"/>
          </a:xfrm>
          <a:prstGeom prst="rect">
            <a:avLst/>
          </a:prstGeom>
          <a:noFill/>
          <a:ln>
            <a:noFill/>
          </a:ln>
        </p:spPr>
      </p:pic>
      <p:pic>
        <p:nvPicPr>
          <p:cNvPr id="76" name="Google Shape;76;p17"/>
          <p:cNvPicPr preferRelativeResize="0"/>
          <p:nvPr/>
        </p:nvPicPr>
        <p:blipFill>
          <a:blip r:embed="rId4">
            <a:alphaModFix/>
          </a:blip>
          <a:stretch>
            <a:fillRect/>
          </a:stretch>
        </p:blipFill>
        <p:spPr>
          <a:xfrm>
            <a:off x="0" y="5076250"/>
            <a:ext cx="9143999" cy="67245"/>
          </a:xfrm>
          <a:prstGeom prst="rect">
            <a:avLst/>
          </a:prstGeom>
          <a:noFill/>
          <a:ln>
            <a:noFill/>
          </a:ln>
        </p:spPr>
      </p:pic>
      <p:pic>
        <p:nvPicPr>
          <p:cNvPr id="77" name="Google Shape;77;p17"/>
          <p:cNvPicPr preferRelativeResize="0"/>
          <p:nvPr/>
        </p:nvPicPr>
        <p:blipFill>
          <a:blip r:embed="rId5">
            <a:alphaModFix amt="10000"/>
          </a:blip>
          <a:stretch>
            <a:fillRect/>
          </a:stretch>
        </p:blipFill>
        <p:spPr>
          <a:xfrm>
            <a:off x="4488575" y="37625"/>
            <a:ext cx="5144400" cy="4005725"/>
          </a:xfrm>
          <a:prstGeom prst="rect">
            <a:avLst/>
          </a:prstGeom>
          <a:noFill/>
          <a:ln>
            <a:noFill/>
          </a:ln>
        </p:spPr>
      </p:pic>
      <p:pic>
        <p:nvPicPr>
          <p:cNvPr id="78" name="Google Shape;78;p17"/>
          <p:cNvPicPr preferRelativeResize="0"/>
          <p:nvPr/>
        </p:nvPicPr>
        <p:blipFill>
          <a:blip r:embed="rId6">
            <a:alphaModFix/>
          </a:blip>
          <a:stretch>
            <a:fillRect/>
          </a:stretch>
        </p:blipFill>
        <p:spPr>
          <a:xfrm>
            <a:off x="0" y="743925"/>
            <a:ext cx="3647025" cy="4259649"/>
          </a:xfrm>
          <a:prstGeom prst="rect">
            <a:avLst/>
          </a:prstGeom>
          <a:noFill/>
          <a:ln>
            <a:noFill/>
          </a:ln>
        </p:spPr>
      </p:pic>
      <p:sp>
        <p:nvSpPr>
          <p:cNvPr id="79" name="Google Shape;79;p17"/>
          <p:cNvSpPr txBox="1"/>
          <p:nvPr>
            <p:ph type="title"/>
          </p:nvPr>
        </p:nvSpPr>
        <p:spPr>
          <a:xfrm>
            <a:off x="311700" y="215075"/>
            <a:ext cx="7641000" cy="5412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001641"/>
              </a:buClr>
              <a:buSzPts val="3000"/>
              <a:buFont typeface="Outfit Black"/>
              <a:buNone/>
              <a:defRPr b="0" sz="3000">
                <a:solidFill>
                  <a:srgbClr val="001641"/>
                </a:solidFill>
                <a:latin typeface="Outfit Black"/>
                <a:ea typeface="Outfit Black"/>
                <a:cs typeface="Outfit Black"/>
                <a:sym typeface="Outfit Black"/>
              </a:defRPr>
            </a:lvl1pPr>
            <a:lvl2pPr lvl="1"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2pPr>
            <a:lvl3pPr lvl="2"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3pPr>
            <a:lvl4pPr lvl="3"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4pPr>
            <a:lvl5pPr lvl="4"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5pPr>
            <a:lvl6pPr lvl="5"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6pPr>
            <a:lvl7pPr lvl="6"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7pPr>
            <a:lvl8pPr lvl="7"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8pPr>
            <a:lvl9pPr lvl="8"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Green  1">
  <p:cSld name="BLANK_1">
    <p:spTree>
      <p:nvGrpSpPr>
        <p:cNvPr id="80" name="Shape 80"/>
        <p:cNvGrpSpPr/>
        <p:nvPr/>
      </p:nvGrpSpPr>
      <p:grpSpPr>
        <a:xfrm>
          <a:off x="0" y="0"/>
          <a:ext cx="0" cy="0"/>
          <a:chOff x="0" y="0"/>
          <a:chExt cx="0" cy="0"/>
        </a:xfrm>
      </p:grpSpPr>
      <p:pic>
        <p:nvPicPr>
          <p:cNvPr id="81" name="Google Shape;81;p18"/>
          <p:cNvPicPr preferRelativeResize="0"/>
          <p:nvPr/>
        </p:nvPicPr>
        <p:blipFill>
          <a:blip r:embed="rId2">
            <a:alphaModFix/>
          </a:blip>
          <a:stretch>
            <a:fillRect/>
          </a:stretch>
        </p:blipFill>
        <p:spPr>
          <a:xfrm>
            <a:off x="8279000" y="4739400"/>
            <a:ext cx="806650" cy="246025"/>
          </a:xfrm>
          <a:prstGeom prst="rect">
            <a:avLst/>
          </a:prstGeom>
          <a:noFill/>
          <a:ln>
            <a:noFill/>
          </a:ln>
        </p:spPr>
      </p:pic>
      <p:pic>
        <p:nvPicPr>
          <p:cNvPr id="82" name="Google Shape;82;p18"/>
          <p:cNvPicPr preferRelativeResize="0"/>
          <p:nvPr/>
        </p:nvPicPr>
        <p:blipFill>
          <a:blip r:embed="rId3">
            <a:alphaModFix/>
          </a:blip>
          <a:stretch>
            <a:fillRect/>
          </a:stretch>
        </p:blipFill>
        <p:spPr>
          <a:xfrm>
            <a:off x="0" y="5076250"/>
            <a:ext cx="9143999" cy="67245"/>
          </a:xfrm>
          <a:prstGeom prst="rect">
            <a:avLst/>
          </a:prstGeom>
          <a:noFill/>
          <a:ln>
            <a:noFill/>
          </a:ln>
        </p:spPr>
      </p:pic>
      <p:pic>
        <p:nvPicPr>
          <p:cNvPr id="83" name="Google Shape;83;p18"/>
          <p:cNvPicPr preferRelativeResize="0"/>
          <p:nvPr/>
        </p:nvPicPr>
        <p:blipFill>
          <a:blip r:embed="rId4">
            <a:alphaModFix amt="10000"/>
          </a:blip>
          <a:stretch>
            <a:fillRect/>
          </a:stretch>
        </p:blipFill>
        <p:spPr>
          <a:xfrm>
            <a:off x="4373925" y="-612450"/>
            <a:ext cx="4770073" cy="3714250"/>
          </a:xfrm>
          <a:prstGeom prst="rect">
            <a:avLst/>
          </a:prstGeom>
          <a:noFill/>
          <a:ln>
            <a:noFill/>
          </a:ln>
        </p:spPr>
      </p:pic>
      <p:sp>
        <p:nvSpPr>
          <p:cNvPr id="84" name="Google Shape;84;p18"/>
          <p:cNvSpPr txBox="1"/>
          <p:nvPr>
            <p:ph type="title"/>
          </p:nvPr>
        </p:nvSpPr>
        <p:spPr>
          <a:xfrm>
            <a:off x="311700" y="215075"/>
            <a:ext cx="7641000" cy="5412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0D4162"/>
              </a:buClr>
              <a:buSzPts val="3000"/>
              <a:buFont typeface="Outfit Black"/>
              <a:buNone/>
              <a:defRPr b="0" sz="3000">
                <a:solidFill>
                  <a:srgbClr val="0D4162"/>
                </a:solidFill>
                <a:latin typeface="Outfit Black"/>
                <a:ea typeface="Outfit Black"/>
                <a:cs typeface="Outfit Black"/>
                <a:sym typeface="Outfit Black"/>
              </a:defRPr>
            </a:lvl1pPr>
            <a:lvl2pPr lvl="1"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2pPr>
            <a:lvl3pPr lvl="2"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3pPr>
            <a:lvl4pPr lvl="3"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4pPr>
            <a:lvl5pPr lvl="4"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5pPr>
            <a:lvl6pPr lvl="5"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6pPr>
            <a:lvl7pPr lvl="6"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7pPr>
            <a:lvl8pPr lvl="7"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8pPr>
            <a:lvl9pPr lvl="8"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Green ">
  <p:cSld name="BLANK_1_2_4">
    <p:spTree>
      <p:nvGrpSpPr>
        <p:cNvPr id="85" name="Shape 85"/>
        <p:cNvGrpSpPr/>
        <p:nvPr/>
      </p:nvGrpSpPr>
      <p:grpSpPr>
        <a:xfrm>
          <a:off x="0" y="0"/>
          <a:ext cx="0" cy="0"/>
          <a:chOff x="0" y="0"/>
          <a:chExt cx="0" cy="0"/>
        </a:xfrm>
      </p:grpSpPr>
      <p:pic>
        <p:nvPicPr>
          <p:cNvPr id="86" name="Google Shape;86;p19"/>
          <p:cNvPicPr preferRelativeResize="0"/>
          <p:nvPr/>
        </p:nvPicPr>
        <p:blipFill>
          <a:blip r:embed="rId2">
            <a:alphaModFix/>
          </a:blip>
          <a:stretch>
            <a:fillRect/>
          </a:stretch>
        </p:blipFill>
        <p:spPr>
          <a:xfrm>
            <a:off x="8279000" y="4739400"/>
            <a:ext cx="806650" cy="246025"/>
          </a:xfrm>
          <a:prstGeom prst="rect">
            <a:avLst/>
          </a:prstGeom>
          <a:noFill/>
          <a:ln>
            <a:noFill/>
          </a:ln>
        </p:spPr>
      </p:pic>
      <p:pic>
        <p:nvPicPr>
          <p:cNvPr id="87" name="Google Shape;87;p19"/>
          <p:cNvPicPr preferRelativeResize="0"/>
          <p:nvPr/>
        </p:nvPicPr>
        <p:blipFill>
          <a:blip r:embed="rId3">
            <a:alphaModFix/>
          </a:blip>
          <a:stretch>
            <a:fillRect/>
          </a:stretch>
        </p:blipFill>
        <p:spPr>
          <a:xfrm>
            <a:off x="0" y="5076250"/>
            <a:ext cx="9143999" cy="67245"/>
          </a:xfrm>
          <a:prstGeom prst="rect">
            <a:avLst/>
          </a:prstGeom>
          <a:noFill/>
          <a:ln>
            <a:noFill/>
          </a:ln>
        </p:spPr>
      </p:pic>
      <p:pic>
        <p:nvPicPr>
          <p:cNvPr id="88" name="Google Shape;88;p19"/>
          <p:cNvPicPr preferRelativeResize="0"/>
          <p:nvPr/>
        </p:nvPicPr>
        <p:blipFill>
          <a:blip r:embed="rId4">
            <a:alphaModFix amt="10000"/>
          </a:blip>
          <a:stretch>
            <a:fillRect/>
          </a:stretch>
        </p:blipFill>
        <p:spPr>
          <a:xfrm>
            <a:off x="4488575" y="37625"/>
            <a:ext cx="5144400" cy="4005725"/>
          </a:xfrm>
          <a:prstGeom prst="rect">
            <a:avLst/>
          </a:prstGeom>
          <a:noFill/>
          <a:ln>
            <a:noFill/>
          </a:ln>
        </p:spPr>
      </p:pic>
      <p:sp>
        <p:nvSpPr>
          <p:cNvPr id="89" name="Google Shape;89;p19"/>
          <p:cNvSpPr txBox="1"/>
          <p:nvPr>
            <p:ph type="title"/>
          </p:nvPr>
        </p:nvSpPr>
        <p:spPr>
          <a:xfrm>
            <a:off x="311700" y="215075"/>
            <a:ext cx="7641000" cy="5412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0D4162"/>
              </a:buClr>
              <a:buSzPts val="3000"/>
              <a:buFont typeface="Outfit Black"/>
              <a:buNone/>
              <a:defRPr b="0" sz="3000">
                <a:solidFill>
                  <a:srgbClr val="0D4162"/>
                </a:solidFill>
                <a:latin typeface="Outfit Black"/>
                <a:ea typeface="Outfit Black"/>
                <a:cs typeface="Outfit Black"/>
                <a:sym typeface="Outfit Black"/>
              </a:defRPr>
            </a:lvl1pPr>
            <a:lvl2pPr lvl="1"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2pPr>
            <a:lvl3pPr lvl="2"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3pPr>
            <a:lvl4pPr lvl="3"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4pPr>
            <a:lvl5pPr lvl="4"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5pPr>
            <a:lvl6pPr lvl="5"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6pPr>
            <a:lvl7pPr lvl="6"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7pPr>
            <a:lvl8pPr lvl="7"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8pPr>
            <a:lvl9pPr lvl="8" algn="l">
              <a:lnSpc>
                <a:spcPct val="100000"/>
              </a:lnSpc>
              <a:spcBef>
                <a:spcPts val="0"/>
              </a:spcBef>
              <a:spcAft>
                <a:spcPts val="0"/>
              </a:spcAft>
              <a:buClr>
                <a:srgbClr val="001641"/>
              </a:buClr>
              <a:buSzPts val="4000"/>
              <a:buFont typeface="Poppins Black"/>
              <a:buNone/>
              <a:defRPr sz="4000">
                <a:solidFill>
                  <a:srgbClr val="001641"/>
                </a:solidFill>
                <a:latin typeface="Poppins Black"/>
                <a:ea typeface="Poppins Black"/>
                <a:cs typeface="Poppins Black"/>
                <a:sym typeface="Poppins Black"/>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28.png"/><Relationship Id="rId5"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20"/>
          <p:cNvPicPr preferRelativeResize="0"/>
          <p:nvPr/>
        </p:nvPicPr>
        <p:blipFill>
          <a:blip r:embed="rId3">
            <a:alphaModFix/>
          </a:blip>
          <a:stretch>
            <a:fillRect/>
          </a:stretch>
        </p:blipFill>
        <p:spPr>
          <a:xfrm>
            <a:off x="1218100" y="3144450"/>
            <a:ext cx="5023875" cy="53850"/>
          </a:xfrm>
          <a:prstGeom prst="rect">
            <a:avLst/>
          </a:prstGeom>
          <a:noFill/>
          <a:ln>
            <a:noFill/>
          </a:ln>
        </p:spPr>
      </p:pic>
      <p:sp>
        <p:nvSpPr>
          <p:cNvPr id="95" name="Google Shape;95;p20"/>
          <p:cNvSpPr txBox="1"/>
          <p:nvPr>
            <p:ph type="ctrTitle"/>
          </p:nvPr>
        </p:nvSpPr>
        <p:spPr>
          <a:xfrm>
            <a:off x="1104675" y="1927950"/>
            <a:ext cx="7569000" cy="118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0" lang="en">
                <a:latin typeface="Outfit Black"/>
                <a:ea typeface="Outfit Black"/>
                <a:cs typeface="Outfit Black"/>
                <a:sym typeface="Outfit Black"/>
              </a:rPr>
              <a:t>Where are </a:t>
            </a:r>
            <a:r>
              <a:rPr lang="en"/>
              <a:t>y</a:t>
            </a:r>
            <a:r>
              <a:rPr b="0" lang="en">
                <a:latin typeface="Outfit Black"/>
                <a:ea typeface="Outfit Black"/>
                <a:cs typeface="Outfit Black"/>
                <a:sym typeface="Outfit Black"/>
              </a:rPr>
              <a:t>ou</a:t>
            </a:r>
            <a:r>
              <a:rPr lang="en"/>
              <a:t>r </a:t>
            </a:r>
            <a:endParaRPr/>
          </a:p>
          <a:p>
            <a:pPr indent="0" lvl="0" marL="0" rtl="0" algn="l">
              <a:spcBef>
                <a:spcPts val="0"/>
              </a:spcBef>
              <a:spcAft>
                <a:spcPts val="0"/>
              </a:spcAft>
              <a:buNone/>
            </a:pPr>
            <a:r>
              <a:rPr lang="en"/>
              <a:t>visitors dropping off</a:t>
            </a:r>
            <a:r>
              <a:rPr b="0" lang="en">
                <a:latin typeface="Outfit Black"/>
                <a:ea typeface="Outfit Black"/>
                <a:cs typeface="Outfit Black"/>
                <a:sym typeface="Outfit Black"/>
              </a:rPr>
              <a:t>?</a:t>
            </a:r>
            <a:endParaRPr b="0">
              <a:latin typeface="Outfit Black"/>
              <a:ea typeface="Outfit Black"/>
              <a:cs typeface="Outfit Black"/>
              <a:sym typeface="Outfit Black"/>
            </a:endParaRPr>
          </a:p>
        </p:txBody>
      </p:sp>
      <p:sp>
        <p:nvSpPr>
          <p:cNvPr id="96" name="Google Shape;96;p20"/>
          <p:cNvSpPr txBox="1"/>
          <p:nvPr/>
        </p:nvSpPr>
        <p:spPr>
          <a:xfrm>
            <a:off x="1104675" y="1678375"/>
            <a:ext cx="3510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00B14C"/>
                </a:solidFill>
                <a:latin typeface="Poppins"/>
                <a:ea typeface="Poppins"/>
                <a:cs typeface="Poppins"/>
                <a:sym typeface="Poppins"/>
              </a:rPr>
              <a:t>NOW  LET'S FIND OUT </a:t>
            </a:r>
            <a:endParaRPr b="1" sz="1600">
              <a:solidFill>
                <a:srgbClr val="00B14C"/>
              </a:solidFill>
              <a:latin typeface="Poppins"/>
              <a:ea typeface="Poppins"/>
              <a:cs typeface="Poppins"/>
              <a:sym typeface="Poppins"/>
            </a:endParaRPr>
          </a:p>
        </p:txBody>
      </p:sp>
      <p:sp>
        <p:nvSpPr>
          <p:cNvPr id="97" name="Google Shape;97;p20"/>
          <p:cNvSpPr txBox="1"/>
          <p:nvPr/>
        </p:nvSpPr>
        <p:spPr>
          <a:xfrm>
            <a:off x="1218100" y="3231300"/>
            <a:ext cx="4489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May 25th - July 20th 2025, Own analysis</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p:nvPr/>
        </p:nvSpPr>
        <p:spPr>
          <a:xfrm>
            <a:off x="7339425" y="1942175"/>
            <a:ext cx="151500" cy="15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1"/>
          <p:cNvSpPr/>
          <p:nvPr/>
        </p:nvSpPr>
        <p:spPr>
          <a:xfrm>
            <a:off x="1589350" y="985913"/>
            <a:ext cx="5241600" cy="3606300"/>
          </a:xfrm>
          <a:prstGeom prst="roundRect">
            <a:avLst>
              <a:gd fmla="val 1360" name="adj"/>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4" name="Google Shape;104;p21"/>
          <p:cNvCxnSpPr/>
          <p:nvPr/>
        </p:nvCxnSpPr>
        <p:spPr>
          <a:xfrm>
            <a:off x="7552650" y="1881263"/>
            <a:ext cx="300" cy="1815600"/>
          </a:xfrm>
          <a:prstGeom prst="straightConnector1">
            <a:avLst/>
          </a:prstGeom>
          <a:noFill/>
          <a:ln cap="flat" cmpd="sng" w="19050">
            <a:solidFill>
              <a:srgbClr val="57BB8A"/>
            </a:solidFill>
            <a:prstDash val="dash"/>
            <a:round/>
            <a:headEnd len="med" w="med" type="none"/>
            <a:tailEnd len="med" w="med" type="none"/>
          </a:ln>
        </p:spPr>
      </p:cxnSp>
      <p:sp>
        <p:nvSpPr>
          <p:cNvPr id="105" name="Google Shape;105;p21"/>
          <p:cNvSpPr txBox="1"/>
          <p:nvPr/>
        </p:nvSpPr>
        <p:spPr>
          <a:xfrm>
            <a:off x="6470875" y="3816063"/>
            <a:ext cx="25326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800">
                <a:latin typeface="Poppins"/>
                <a:ea typeface="Poppins"/>
                <a:cs typeface="Poppins"/>
                <a:sym typeface="Poppins"/>
              </a:rPr>
              <a:t>Conversion Rate by Device Type</a:t>
            </a:r>
            <a:endParaRPr sz="1000">
              <a:latin typeface="Poppins"/>
              <a:ea typeface="Poppins"/>
              <a:cs typeface="Poppins"/>
              <a:sym typeface="Poppins"/>
            </a:endParaRPr>
          </a:p>
        </p:txBody>
      </p:sp>
      <p:sp>
        <p:nvSpPr>
          <p:cNvPr id="106" name="Google Shape;106;p21"/>
          <p:cNvSpPr txBox="1"/>
          <p:nvPr/>
        </p:nvSpPr>
        <p:spPr>
          <a:xfrm>
            <a:off x="504000" y="4759225"/>
            <a:ext cx="77196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600">
                <a:solidFill>
                  <a:srgbClr val="B7B7B7"/>
                </a:solidFill>
                <a:latin typeface="Poppins Light"/>
                <a:ea typeface="Poppins Light"/>
                <a:cs typeface="Poppins Light"/>
                <a:sym typeface="Poppins Light"/>
              </a:rPr>
              <a:t>Source: </a:t>
            </a:r>
            <a:r>
              <a:rPr i="1" lang="en" sz="600">
                <a:solidFill>
                  <a:srgbClr val="B7B7B7"/>
                </a:solidFill>
                <a:latin typeface="Poppins Light"/>
                <a:ea typeface="Poppins Light"/>
                <a:cs typeface="Poppins Light"/>
                <a:sym typeface="Poppins Light"/>
              </a:rPr>
              <a:t>Shopify</a:t>
            </a:r>
            <a:r>
              <a:rPr i="1" lang="en" sz="600">
                <a:solidFill>
                  <a:srgbClr val="B7B7B7"/>
                </a:solidFill>
                <a:latin typeface="Poppins Light"/>
                <a:ea typeface="Poppins Light"/>
                <a:cs typeface="Poppins Light"/>
                <a:sym typeface="Poppins Light"/>
              </a:rPr>
              <a:t> </a:t>
            </a:r>
            <a:r>
              <a:rPr i="1" lang="en" sz="600">
                <a:solidFill>
                  <a:srgbClr val="B7B7B7"/>
                </a:solidFill>
                <a:latin typeface="Poppins Light"/>
                <a:ea typeface="Poppins Light"/>
                <a:cs typeface="Poppins Light"/>
                <a:sym typeface="Poppins Light"/>
              </a:rPr>
              <a:t>Analytics from Jun 8 - Aug 6, 2024</a:t>
            </a:r>
            <a:endParaRPr i="1" sz="600">
              <a:solidFill>
                <a:srgbClr val="B7B7B7"/>
              </a:solidFill>
              <a:latin typeface="Poppins Light"/>
              <a:ea typeface="Poppins Light"/>
              <a:cs typeface="Poppins Light"/>
              <a:sym typeface="Poppins Light"/>
            </a:endParaRPr>
          </a:p>
        </p:txBody>
      </p:sp>
      <p:sp>
        <p:nvSpPr>
          <p:cNvPr id="107" name="Google Shape;107;p21"/>
          <p:cNvSpPr txBox="1"/>
          <p:nvPr>
            <p:ph type="title"/>
          </p:nvPr>
        </p:nvSpPr>
        <p:spPr>
          <a:xfrm>
            <a:off x="113275" y="120225"/>
            <a:ext cx="9030600" cy="9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500">
                <a:latin typeface="Outfit"/>
                <a:ea typeface="Outfit"/>
                <a:cs typeface="Outfit"/>
                <a:sym typeface="Outfit"/>
              </a:rPr>
              <a:t>~82% of traffic comes from mobile devices; mobile devices bring 79% of transactions, while desktop contributes 20.2%</a:t>
            </a:r>
            <a:endParaRPr b="1" sz="2500">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b="1" sz="2500">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b="1" sz="2500">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b="1" sz="2500">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b="1" sz="2500">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b="1" sz="2500">
              <a:latin typeface="Outfit"/>
              <a:ea typeface="Outfit"/>
              <a:cs typeface="Outfit"/>
              <a:sym typeface="Outfit"/>
            </a:endParaRPr>
          </a:p>
          <a:p>
            <a:pPr indent="0" lvl="0" marL="0" rtl="0" algn="l">
              <a:spcBef>
                <a:spcPts val="0"/>
              </a:spcBef>
              <a:spcAft>
                <a:spcPts val="0"/>
              </a:spcAft>
              <a:buNone/>
            </a:pPr>
            <a:r>
              <a:t/>
            </a:r>
            <a:endParaRPr b="1" sz="2500">
              <a:latin typeface="Outfit"/>
              <a:ea typeface="Outfit"/>
              <a:cs typeface="Outfit"/>
              <a:sym typeface="Outfit"/>
            </a:endParaRPr>
          </a:p>
        </p:txBody>
      </p:sp>
      <p:sp>
        <p:nvSpPr>
          <p:cNvPr id="108" name="Google Shape;108;p21"/>
          <p:cNvSpPr/>
          <p:nvPr/>
        </p:nvSpPr>
        <p:spPr>
          <a:xfrm>
            <a:off x="5612200" y="1180600"/>
            <a:ext cx="3418500" cy="2963400"/>
          </a:xfrm>
          <a:prstGeom prst="roundRect">
            <a:avLst>
              <a:gd fmla="val 1824" name="adj"/>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1"/>
          <p:cNvSpPr/>
          <p:nvPr/>
        </p:nvSpPr>
        <p:spPr>
          <a:xfrm>
            <a:off x="113275" y="1142050"/>
            <a:ext cx="2607000" cy="2963400"/>
          </a:xfrm>
          <a:prstGeom prst="roundRect">
            <a:avLst>
              <a:gd fmla="val 1544" name="adj"/>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1"/>
          <p:cNvSpPr txBox="1"/>
          <p:nvPr/>
        </p:nvSpPr>
        <p:spPr>
          <a:xfrm>
            <a:off x="113225" y="3739875"/>
            <a:ext cx="2607000" cy="30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800">
                <a:latin typeface="Poppins"/>
                <a:ea typeface="Poppins"/>
                <a:cs typeface="Poppins"/>
                <a:sym typeface="Poppins"/>
              </a:rPr>
              <a:t>User share by Device Type</a:t>
            </a:r>
            <a:endParaRPr i="1" sz="800">
              <a:latin typeface="Poppins"/>
              <a:ea typeface="Poppins"/>
              <a:cs typeface="Poppins"/>
              <a:sym typeface="Poppins"/>
            </a:endParaRPr>
          </a:p>
        </p:txBody>
      </p:sp>
      <p:sp>
        <p:nvSpPr>
          <p:cNvPr id="111" name="Google Shape;111;p21"/>
          <p:cNvSpPr txBox="1"/>
          <p:nvPr/>
        </p:nvSpPr>
        <p:spPr>
          <a:xfrm>
            <a:off x="6423450" y="3797363"/>
            <a:ext cx="20490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800">
                <a:latin typeface="Poppins"/>
                <a:ea typeface="Poppins"/>
                <a:cs typeface="Poppins"/>
                <a:sym typeface="Poppins"/>
              </a:rPr>
              <a:t>E-commerce conversion rate </a:t>
            </a:r>
            <a:endParaRPr i="1" sz="800">
              <a:latin typeface="Poppins"/>
              <a:ea typeface="Poppins"/>
              <a:cs typeface="Poppins"/>
              <a:sym typeface="Poppins"/>
            </a:endParaRPr>
          </a:p>
          <a:p>
            <a:pPr indent="0" lvl="0" marL="0" rtl="0" algn="l">
              <a:spcBef>
                <a:spcPts val="0"/>
              </a:spcBef>
              <a:spcAft>
                <a:spcPts val="0"/>
              </a:spcAft>
              <a:buNone/>
            </a:pPr>
            <a:r>
              <a:t/>
            </a:r>
            <a:endParaRPr i="1" sz="800">
              <a:latin typeface="Poppins"/>
              <a:ea typeface="Poppins"/>
              <a:cs typeface="Poppins"/>
              <a:sym typeface="Poppins"/>
            </a:endParaRPr>
          </a:p>
        </p:txBody>
      </p:sp>
      <p:sp>
        <p:nvSpPr>
          <p:cNvPr id="112" name="Google Shape;112;p21"/>
          <p:cNvSpPr txBox="1"/>
          <p:nvPr/>
        </p:nvSpPr>
        <p:spPr>
          <a:xfrm>
            <a:off x="3185650" y="3943713"/>
            <a:ext cx="20490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800">
                <a:latin typeface="Poppins"/>
                <a:ea typeface="Poppins"/>
                <a:cs typeface="Poppins"/>
                <a:sym typeface="Poppins"/>
              </a:rPr>
              <a:t>Transactions by Device Type</a:t>
            </a:r>
            <a:endParaRPr i="1" sz="800">
              <a:latin typeface="Poppins"/>
              <a:ea typeface="Poppins"/>
              <a:cs typeface="Poppins"/>
              <a:sym typeface="Poppins"/>
            </a:endParaRPr>
          </a:p>
        </p:txBody>
      </p:sp>
      <p:sp>
        <p:nvSpPr>
          <p:cNvPr id="113" name="Google Shape;113;p21"/>
          <p:cNvSpPr txBox="1"/>
          <p:nvPr/>
        </p:nvSpPr>
        <p:spPr>
          <a:xfrm>
            <a:off x="6200775" y="3070900"/>
            <a:ext cx="4131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lt1"/>
                </a:solidFill>
                <a:latin typeface="Poppins"/>
                <a:ea typeface="Poppins"/>
                <a:cs typeface="Poppins"/>
                <a:sym typeface="Poppins"/>
              </a:rPr>
              <a:t>0.7%</a:t>
            </a:r>
            <a:endParaRPr b="1" sz="700">
              <a:solidFill>
                <a:schemeClr val="lt1"/>
              </a:solidFill>
              <a:latin typeface="Poppins"/>
              <a:ea typeface="Poppins"/>
              <a:cs typeface="Poppins"/>
              <a:sym typeface="Poppins"/>
            </a:endParaRPr>
          </a:p>
        </p:txBody>
      </p:sp>
      <p:sp>
        <p:nvSpPr>
          <p:cNvPr id="114" name="Google Shape;114;p21"/>
          <p:cNvSpPr txBox="1"/>
          <p:nvPr/>
        </p:nvSpPr>
        <p:spPr>
          <a:xfrm>
            <a:off x="8323650" y="2608950"/>
            <a:ext cx="462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lt1"/>
                </a:solidFill>
                <a:latin typeface="Poppins"/>
                <a:ea typeface="Poppins"/>
                <a:cs typeface="Poppins"/>
                <a:sym typeface="Poppins"/>
              </a:rPr>
              <a:t>3.9%</a:t>
            </a:r>
            <a:endParaRPr b="1" sz="700">
              <a:solidFill>
                <a:schemeClr val="lt1"/>
              </a:solidFill>
              <a:latin typeface="Poppins"/>
              <a:ea typeface="Poppins"/>
              <a:cs typeface="Poppins"/>
              <a:sym typeface="Poppins"/>
            </a:endParaRPr>
          </a:p>
        </p:txBody>
      </p:sp>
      <p:sp>
        <p:nvSpPr>
          <p:cNvPr id="115" name="Google Shape;115;p21"/>
          <p:cNvSpPr txBox="1"/>
          <p:nvPr/>
        </p:nvSpPr>
        <p:spPr>
          <a:xfrm>
            <a:off x="6314325" y="2137450"/>
            <a:ext cx="4131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lt1"/>
                </a:solidFill>
                <a:latin typeface="Poppins"/>
                <a:ea typeface="Poppins"/>
                <a:cs typeface="Poppins"/>
                <a:sym typeface="Poppins"/>
              </a:rPr>
              <a:t>0.9%</a:t>
            </a:r>
            <a:endParaRPr b="1" sz="700">
              <a:solidFill>
                <a:schemeClr val="lt1"/>
              </a:solidFill>
              <a:latin typeface="Poppins"/>
              <a:ea typeface="Poppins"/>
              <a:cs typeface="Poppins"/>
              <a:sym typeface="Poppins"/>
            </a:endParaRPr>
          </a:p>
        </p:txBody>
      </p:sp>
      <p:pic>
        <p:nvPicPr>
          <p:cNvPr id="116" name="Google Shape;116;p21" title="Chart"/>
          <p:cNvPicPr preferRelativeResize="0"/>
          <p:nvPr/>
        </p:nvPicPr>
        <p:blipFill>
          <a:blip r:embed="rId3">
            <a:alphaModFix/>
          </a:blip>
          <a:stretch>
            <a:fillRect/>
          </a:stretch>
        </p:blipFill>
        <p:spPr>
          <a:xfrm>
            <a:off x="203275" y="1200075"/>
            <a:ext cx="2242278" cy="2616001"/>
          </a:xfrm>
          <a:prstGeom prst="rect">
            <a:avLst/>
          </a:prstGeom>
          <a:noFill/>
          <a:ln>
            <a:noFill/>
          </a:ln>
        </p:spPr>
      </p:pic>
      <p:sp>
        <p:nvSpPr>
          <p:cNvPr id="117" name="Google Shape;117;p21"/>
          <p:cNvSpPr txBox="1"/>
          <p:nvPr/>
        </p:nvSpPr>
        <p:spPr>
          <a:xfrm>
            <a:off x="1082725" y="3308677"/>
            <a:ext cx="668100" cy="3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oppins"/>
                <a:ea typeface="Poppins"/>
                <a:cs typeface="Poppins"/>
                <a:sym typeface="Poppins"/>
              </a:rPr>
              <a:t>82.8%</a:t>
            </a:r>
            <a:endParaRPr sz="1100">
              <a:solidFill>
                <a:schemeClr val="lt1"/>
              </a:solidFill>
              <a:latin typeface="Poppins"/>
              <a:ea typeface="Poppins"/>
              <a:cs typeface="Poppins"/>
              <a:sym typeface="Poppins"/>
            </a:endParaRPr>
          </a:p>
        </p:txBody>
      </p:sp>
      <p:sp>
        <p:nvSpPr>
          <p:cNvPr id="118" name="Google Shape;118;p21"/>
          <p:cNvSpPr txBox="1"/>
          <p:nvPr/>
        </p:nvSpPr>
        <p:spPr>
          <a:xfrm>
            <a:off x="660084" y="1646107"/>
            <a:ext cx="668100" cy="3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oppins"/>
                <a:ea typeface="Poppins"/>
                <a:cs typeface="Poppins"/>
                <a:sym typeface="Poppins"/>
              </a:rPr>
              <a:t>16.4%</a:t>
            </a:r>
            <a:endParaRPr sz="1100">
              <a:solidFill>
                <a:schemeClr val="lt1"/>
              </a:solidFill>
              <a:latin typeface="Poppins"/>
              <a:ea typeface="Poppins"/>
              <a:cs typeface="Poppins"/>
              <a:sym typeface="Poppins"/>
            </a:endParaRPr>
          </a:p>
        </p:txBody>
      </p:sp>
      <p:pic>
        <p:nvPicPr>
          <p:cNvPr id="119" name="Google Shape;119;p21" title="Chart"/>
          <p:cNvPicPr preferRelativeResize="0"/>
          <p:nvPr/>
        </p:nvPicPr>
        <p:blipFill>
          <a:blip r:embed="rId4">
            <a:alphaModFix/>
          </a:blip>
          <a:stretch>
            <a:fillRect/>
          </a:stretch>
        </p:blipFill>
        <p:spPr>
          <a:xfrm>
            <a:off x="5672975" y="1600275"/>
            <a:ext cx="3246576" cy="2007449"/>
          </a:xfrm>
          <a:prstGeom prst="rect">
            <a:avLst/>
          </a:prstGeom>
          <a:noFill/>
          <a:ln>
            <a:noFill/>
          </a:ln>
        </p:spPr>
      </p:pic>
      <p:pic>
        <p:nvPicPr>
          <p:cNvPr id="120" name="Google Shape;120;p21" title="Chart"/>
          <p:cNvPicPr preferRelativeResize="0"/>
          <p:nvPr/>
        </p:nvPicPr>
        <p:blipFill>
          <a:blip r:embed="rId5">
            <a:alphaModFix/>
          </a:blip>
          <a:stretch>
            <a:fillRect/>
          </a:stretch>
        </p:blipFill>
        <p:spPr>
          <a:xfrm>
            <a:off x="2924900" y="1065850"/>
            <a:ext cx="2532600" cy="2954713"/>
          </a:xfrm>
          <a:prstGeom prst="rect">
            <a:avLst/>
          </a:prstGeom>
          <a:noFill/>
          <a:ln>
            <a:noFill/>
          </a:ln>
        </p:spPr>
      </p:pic>
      <p:sp>
        <p:nvSpPr>
          <p:cNvPr id="121" name="Google Shape;121;p21"/>
          <p:cNvSpPr txBox="1"/>
          <p:nvPr/>
        </p:nvSpPr>
        <p:spPr>
          <a:xfrm>
            <a:off x="4029750" y="3459577"/>
            <a:ext cx="668100" cy="3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oppins"/>
                <a:ea typeface="Poppins"/>
                <a:cs typeface="Poppins"/>
                <a:sym typeface="Poppins"/>
              </a:rPr>
              <a:t>79.5%</a:t>
            </a:r>
            <a:endParaRPr sz="1100">
              <a:solidFill>
                <a:schemeClr val="lt1"/>
              </a:solidFill>
              <a:latin typeface="Poppins"/>
              <a:ea typeface="Poppins"/>
              <a:cs typeface="Poppins"/>
              <a:sym typeface="Poppins"/>
            </a:endParaRPr>
          </a:p>
        </p:txBody>
      </p:sp>
      <p:sp>
        <p:nvSpPr>
          <p:cNvPr id="122" name="Google Shape;122;p21"/>
          <p:cNvSpPr txBox="1"/>
          <p:nvPr/>
        </p:nvSpPr>
        <p:spPr>
          <a:xfrm>
            <a:off x="3513759" y="1545307"/>
            <a:ext cx="668100" cy="3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oppins"/>
                <a:ea typeface="Poppins"/>
                <a:cs typeface="Poppins"/>
                <a:sym typeface="Poppins"/>
              </a:rPr>
              <a:t>20.2%</a:t>
            </a:r>
            <a:endParaRPr sz="1100">
              <a:solidFill>
                <a:schemeClr val="lt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p:nvPr/>
        </p:nvSpPr>
        <p:spPr>
          <a:xfrm>
            <a:off x="457200" y="1371725"/>
            <a:ext cx="5739600" cy="3200400"/>
          </a:xfrm>
          <a:prstGeom prst="rect">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000" u="none" cap="none" strike="noStrike">
              <a:solidFill>
                <a:srgbClr val="000000"/>
              </a:solidFill>
              <a:latin typeface="Poppins"/>
              <a:ea typeface="Poppins"/>
              <a:cs typeface="Poppins"/>
              <a:sym typeface="Poppins"/>
            </a:endParaRPr>
          </a:p>
        </p:txBody>
      </p:sp>
      <p:pic>
        <p:nvPicPr>
          <p:cNvPr id="128" name="Google Shape;128;p22"/>
          <p:cNvPicPr preferRelativeResize="0"/>
          <p:nvPr/>
        </p:nvPicPr>
        <p:blipFill>
          <a:blip r:embed="rId3">
            <a:alphaModFix/>
          </a:blip>
          <a:stretch>
            <a:fillRect/>
          </a:stretch>
        </p:blipFill>
        <p:spPr>
          <a:xfrm>
            <a:off x="666775" y="2417000"/>
            <a:ext cx="5244150" cy="1847295"/>
          </a:xfrm>
          <a:prstGeom prst="rect">
            <a:avLst/>
          </a:prstGeom>
          <a:noFill/>
          <a:ln>
            <a:noFill/>
          </a:ln>
        </p:spPr>
      </p:pic>
      <p:sp>
        <p:nvSpPr>
          <p:cNvPr id="129" name="Google Shape;129;p22"/>
          <p:cNvSpPr txBox="1"/>
          <p:nvPr>
            <p:ph type="title"/>
          </p:nvPr>
        </p:nvSpPr>
        <p:spPr>
          <a:xfrm>
            <a:off x="457200" y="30975"/>
            <a:ext cx="8229600" cy="110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500">
                <a:latin typeface="Outfit"/>
                <a:ea typeface="Outfit"/>
                <a:cs typeface="Outfit"/>
                <a:sym typeface="Outfit"/>
              </a:rPr>
              <a:t>Your average CVR is higher than the median of similar stores but below than top 25% stores in your segment. Moving forward, we'll explore ways to improve </a:t>
            </a:r>
            <a:r>
              <a:rPr b="1" lang="en" sz="2500">
                <a:latin typeface="Outfit"/>
                <a:ea typeface="Outfit"/>
                <a:cs typeface="Outfit"/>
                <a:sym typeface="Outfit"/>
              </a:rPr>
              <a:t>further</a:t>
            </a:r>
            <a:r>
              <a:rPr b="1" lang="en" sz="2500">
                <a:latin typeface="Outfit"/>
                <a:ea typeface="Outfit"/>
                <a:cs typeface="Outfit"/>
                <a:sym typeface="Outfit"/>
              </a:rPr>
              <a:t> it</a:t>
            </a:r>
            <a:endParaRPr b="1" sz="2500">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b="1" sz="2500">
              <a:latin typeface="Outfit"/>
              <a:ea typeface="Outfit"/>
              <a:cs typeface="Outfit"/>
              <a:sym typeface="Outfit"/>
            </a:endParaRPr>
          </a:p>
          <a:p>
            <a:pPr indent="0" lvl="0" marL="0" rtl="0" algn="l">
              <a:spcBef>
                <a:spcPts val="0"/>
              </a:spcBef>
              <a:spcAft>
                <a:spcPts val="0"/>
              </a:spcAft>
              <a:buNone/>
            </a:pPr>
            <a:r>
              <a:t/>
            </a:r>
            <a:endParaRPr b="1" sz="2500">
              <a:latin typeface="Outfit"/>
              <a:ea typeface="Outfit"/>
              <a:cs typeface="Outfit"/>
              <a:sym typeface="Outfit"/>
            </a:endParaRPr>
          </a:p>
        </p:txBody>
      </p:sp>
      <p:sp>
        <p:nvSpPr>
          <p:cNvPr id="130" name="Google Shape;130;p22"/>
          <p:cNvSpPr txBox="1"/>
          <p:nvPr/>
        </p:nvSpPr>
        <p:spPr>
          <a:xfrm>
            <a:off x="457200" y="4606825"/>
            <a:ext cx="82296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600">
                <a:solidFill>
                  <a:srgbClr val="B7B7B7"/>
                </a:solidFill>
                <a:latin typeface="Poppins Light"/>
                <a:ea typeface="Poppins Light"/>
                <a:cs typeface="Poppins Light"/>
                <a:sym typeface="Poppins Light"/>
              </a:rPr>
              <a:t>Source: Shopify Analytics from April 26th - July 24th 2025, Own analysis</a:t>
            </a:r>
            <a:endParaRPr i="1" sz="600">
              <a:solidFill>
                <a:srgbClr val="B7B7B7"/>
              </a:solidFill>
              <a:latin typeface="Poppins Light"/>
              <a:ea typeface="Poppins Light"/>
              <a:cs typeface="Poppins Light"/>
              <a:sym typeface="Poppins Light"/>
            </a:endParaRPr>
          </a:p>
        </p:txBody>
      </p:sp>
      <p:sp>
        <p:nvSpPr>
          <p:cNvPr id="131" name="Google Shape;131;p22"/>
          <p:cNvSpPr/>
          <p:nvPr/>
        </p:nvSpPr>
        <p:spPr>
          <a:xfrm>
            <a:off x="650238" y="1524813"/>
            <a:ext cx="1507200" cy="821400"/>
          </a:xfrm>
          <a:prstGeom prst="roundRect">
            <a:avLst>
              <a:gd fmla="val 5825"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385F4"/>
              </a:highlight>
              <a:latin typeface="Poppins"/>
              <a:ea typeface="Poppins"/>
              <a:cs typeface="Poppins"/>
              <a:sym typeface="Poppins"/>
            </a:endParaRPr>
          </a:p>
        </p:txBody>
      </p:sp>
      <p:sp>
        <p:nvSpPr>
          <p:cNvPr id="132" name="Google Shape;132;p22"/>
          <p:cNvSpPr txBox="1"/>
          <p:nvPr/>
        </p:nvSpPr>
        <p:spPr>
          <a:xfrm>
            <a:off x="718525" y="1582763"/>
            <a:ext cx="1507200" cy="678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800">
                <a:solidFill>
                  <a:srgbClr val="4385F4"/>
                </a:solidFill>
                <a:latin typeface="Poppins"/>
                <a:ea typeface="Poppins"/>
                <a:cs typeface="Poppins"/>
                <a:sym typeface="Poppins"/>
              </a:rPr>
              <a:t>Your AVG CVR</a:t>
            </a:r>
            <a:endParaRPr b="1" sz="800">
              <a:solidFill>
                <a:srgbClr val="4385F4"/>
              </a:solidFill>
              <a:latin typeface="Poppins"/>
              <a:ea typeface="Poppins"/>
              <a:cs typeface="Poppins"/>
              <a:sym typeface="Poppins"/>
            </a:endParaRPr>
          </a:p>
          <a:p>
            <a:pPr indent="0" lvl="0" marL="0" rtl="0" algn="l">
              <a:spcBef>
                <a:spcPts val="0"/>
              </a:spcBef>
              <a:spcAft>
                <a:spcPts val="0"/>
              </a:spcAft>
              <a:buNone/>
            </a:pPr>
            <a:r>
              <a:rPr b="1" lang="en" sz="1700">
                <a:solidFill>
                  <a:srgbClr val="4385F4"/>
                </a:solidFill>
                <a:latin typeface="Poppins"/>
                <a:ea typeface="Poppins"/>
                <a:cs typeface="Poppins"/>
                <a:sym typeface="Poppins"/>
              </a:rPr>
              <a:t>2.50%</a:t>
            </a:r>
            <a:endParaRPr b="1" sz="1700">
              <a:solidFill>
                <a:srgbClr val="4385F4"/>
              </a:solidFill>
              <a:latin typeface="Poppins"/>
              <a:ea typeface="Poppins"/>
              <a:cs typeface="Poppins"/>
              <a:sym typeface="Poppins"/>
            </a:endParaRPr>
          </a:p>
          <a:p>
            <a:pPr indent="0" lvl="0" marL="0" rtl="0" algn="l">
              <a:lnSpc>
                <a:spcPct val="60000"/>
              </a:lnSpc>
              <a:spcBef>
                <a:spcPts val="500"/>
              </a:spcBef>
              <a:spcAft>
                <a:spcPts val="0"/>
              </a:spcAft>
              <a:buNone/>
            </a:pPr>
            <a:r>
              <a:rPr lang="en" sz="600">
                <a:solidFill>
                  <a:srgbClr val="4385F4"/>
                </a:solidFill>
                <a:latin typeface="Poppins"/>
                <a:ea typeface="Poppins"/>
                <a:cs typeface="Poppins"/>
                <a:sym typeface="Poppins"/>
              </a:rPr>
              <a:t>Your store’s current performance</a:t>
            </a:r>
            <a:endParaRPr sz="600">
              <a:solidFill>
                <a:srgbClr val="4385F4"/>
              </a:solidFill>
              <a:latin typeface="Poppins"/>
              <a:ea typeface="Poppins"/>
              <a:cs typeface="Poppins"/>
              <a:sym typeface="Poppins"/>
            </a:endParaRPr>
          </a:p>
          <a:p>
            <a:pPr indent="0" lvl="0" marL="0" rtl="0" algn="l">
              <a:spcBef>
                <a:spcPts val="0"/>
              </a:spcBef>
              <a:spcAft>
                <a:spcPts val="0"/>
              </a:spcAft>
              <a:buNone/>
            </a:pPr>
            <a:r>
              <a:t/>
            </a:r>
            <a:endParaRPr b="1" sz="1700">
              <a:solidFill>
                <a:srgbClr val="4385F4"/>
              </a:solidFill>
              <a:latin typeface="Poppins"/>
              <a:ea typeface="Poppins"/>
              <a:cs typeface="Poppins"/>
              <a:sym typeface="Poppins"/>
            </a:endParaRPr>
          </a:p>
        </p:txBody>
      </p:sp>
      <p:sp>
        <p:nvSpPr>
          <p:cNvPr id="133" name="Google Shape;133;p22"/>
          <p:cNvSpPr/>
          <p:nvPr/>
        </p:nvSpPr>
        <p:spPr>
          <a:xfrm>
            <a:off x="2415226" y="1524813"/>
            <a:ext cx="1610700" cy="821400"/>
          </a:xfrm>
          <a:prstGeom prst="roundRect">
            <a:avLst>
              <a:gd fmla="val 5825" name="adj"/>
            </a:avLst>
          </a:prstGeom>
          <a:solidFill>
            <a:schemeClr val="lt1"/>
          </a:solidFill>
          <a:ln cap="flat" cmpd="sng" w="9525">
            <a:solidFill>
              <a:srgbClr val="119EA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385F4"/>
              </a:highlight>
              <a:latin typeface="Poppins"/>
              <a:ea typeface="Poppins"/>
              <a:cs typeface="Poppins"/>
              <a:sym typeface="Poppins"/>
            </a:endParaRPr>
          </a:p>
        </p:txBody>
      </p:sp>
      <p:sp>
        <p:nvSpPr>
          <p:cNvPr id="134" name="Google Shape;134;p22"/>
          <p:cNvSpPr txBox="1"/>
          <p:nvPr/>
        </p:nvSpPr>
        <p:spPr>
          <a:xfrm>
            <a:off x="2483500" y="1582763"/>
            <a:ext cx="1610700" cy="678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800">
                <a:solidFill>
                  <a:srgbClr val="119EAF"/>
                </a:solidFill>
                <a:latin typeface="Poppins"/>
                <a:ea typeface="Poppins"/>
                <a:cs typeface="Poppins"/>
                <a:sym typeface="Poppins"/>
              </a:rPr>
              <a:t>Median CVR</a:t>
            </a:r>
            <a:endParaRPr b="1" sz="800">
              <a:solidFill>
                <a:srgbClr val="119EAF"/>
              </a:solidFill>
              <a:latin typeface="Poppins"/>
              <a:ea typeface="Poppins"/>
              <a:cs typeface="Poppins"/>
              <a:sym typeface="Poppins"/>
            </a:endParaRPr>
          </a:p>
          <a:p>
            <a:pPr indent="0" lvl="0" marL="0" rtl="0" algn="l">
              <a:spcBef>
                <a:spcPts val="0"/>
              </a:spcBef>
              <a:spcAft>
                <a:spcPts val="0"/>
              </a:spcAft>
              <a:buNone/>
            </a:pPr>
            <a:r>
              <a:rPr b="1" lang="en" sz="1700">
                <a:solidFill>
                  <a:srgbClr val="119EAF"/>
                </a:solidFill>
                <a:latin typeface="Poppins"/>
                <a:ea typeface="Poppins"/>
                <a:cs typeface="Poppins"/>
                <a:sym typeface="Poppins"/>
              </a:rPr>
              <a:t>1.23%</a:t>
            </a:r>
            <a:endParaRPr b="1" sz="1700">
              <a:solidFill>
                <a:srgbClr val="119EAF"/>
              </a:solidFill>
              <a:latin typeface="Poppins"/>
              <a:ea typeface="Poppins"/>
              <a:cs typeface="Poppins"/>
              <a:sym typeface="Poppins"/>
            </a:endParaRPr>
          </a:p>
          <a:p>
            <a:pPr indent="0" lvl="0" marL="0" rtl="0" algn="l">
              <a:lnSpc>
                <a:spcPct val="90000"/>
              </a:lnSpc>
              <a:spcBef>
                <a:spcPts val="500"/>
              </a:spcBef>
              <a:spcAft>
                <a:spcPts val="0"/>
              </a:spcAft>
              <a:buNone/>
            </a:pPr>
            <a:r>
              <a:rPr lang="en" sz="600">
                <a:solidFill>
                  <a:srgbClr val="119EAF"/>
                </a:solidFill>
                <a:latin typeface="Poppins"/>
                <a:ea typeface="Poppins"/>
                <a:cs typeface="Poppins"/>
                <a:sym typeface="Poppins"/>
              </a:rPr>
              <a:t>Peer benchmark—an industry-wide average</a:t>
            </a:r>
            <a:endParaRPr sz="600">
              <a:solidFill>
                <a:srgbClr val="119EAF"/>
              </a:solidFill>
              <a:latin typeface="Poppins"/>
              <a:ea typeface="Poppins"/>
              <a:cs typeface="Poppins"/>
              <a:sym typeface="Poppins"/>
            </a:endParaRPr>
          </a:p>
          <a:p>
            <a:pPr indent="0" lvl="0" marL="0" rtl="0" algn="l">
              <a:spcBef>
                <a:spcPts val="500"/>
              </a:spcBef>
              <a:spcAft>
                <a:spcPts val="0"/>
              </a:spcAft>
              <a:buNone/>
            </a:pPr>
            <a:r>
              <a:t/>
            </a:r>
            <a:endParaRPr b="1" sz="1700">
              <a:solidFill>
                <a:srgbClr val="4385F4"/>
              </a:solidFill>
              <a:latin typeface="Poppins"/>
              <a:ea typeface="Poppins"/>
              <a:cs typeface="Poppins"/>
              <a:sym typeface="Poppins"/>
            </a:endParaRPr>
          </a:p>
        </p:txBody>
      </p:sp>
      <p:sp>
        <p:nvSpPr>
          <p:cNvPr id="135" name="Google Shape;135;p22"/>
          <p:cNvSpPr/>
          <p:nvPr/>
        </p:nvSpPr>
        <p:spPr>
          <a:xfrm>
            <a:off x="4283701" y="1524813"/>
            <a:ext cx="1610700" cy="821400"/>
          </a:xfrm>
          <a:prstGeom prst="roundRect">
            <a:avLst>
              <a:gd fmla="val 5825" name="adj"/>
            </a:avLst>
          </a:prstGeom>
          <a:solidFill>
            <a:schemeClr val="lt1"/>
          </a:solidFill>
          <a:ln cap="flat" cmpd="sng" w="9525">
            <a:solidFill>
              <a:srgbClr val="28A74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385F4"/>
              </a:highlight>
              <a:latin typeface="Poppins"/>
              <a:ea typeface="Poppins"/>
              <a:cs typeface="Poppins"/>
              <a:sym typeface="Poppins"/>
            </a:endParaRPr>
          </a:p>
        </p:txBody>
      </p:sp>
      <p:sp>
        <p:nvSpPr>
          <p:cNvPr id="136" name="Google Shape;136;p22"/>
          <p:cNvSpPr txBox="1"/>
          <p:nvPr/>
        </p:nvSpPr>
        <p:spPr>
          <a:xfrm>
            <a:off x="4351975" y="1582763"/>
            <a:ext cx="1610700" cy="678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800">
                <a:solidFill>
                  <a:srgbClr val="28A745"/>
                </a:solidFill>
                <a:latin typeface="Poppins"/>
                <a:ea typeface="Poppins"/>
                <a:cs typeface="Poppins"/>
                <a:sym typeface="Poppins"/>
              </a:rPr>
              <a:t>Top 25% </a:t>
            </a:r>
            <a:endParaRPr b="1" sz="800">
              <a:solidFill>
                <a:srgbClr val="28A745"/>
              </a:solidFill>
              <a:latin typeface="Poppins"/>
              <a:ea typeface="Poppins"/>
              <a:cs typeface="Poppins"/>
              <a:sym typeface="Poppins"/>
            </a:endParaRPr>
          </a:p>
          <a:p>
            <a:pPr indent="0" lvl="0" marL="0" rtl="0" algn="l">
              <a:spcBef>
                <a:spcPts val="0"/>
              </a:spcBef>
              <a:spcAft>
                <a:spcPts val="0"/>
              </a:spcAft>
              <a:buNone/>
            </a:pPr>
            <a:r>
              <a:rPr b="1" lang="en" sz="1700">
                <a:solidFill>
                  <a:srgbClr val="28A745"/>
                </a:solidFill>
                <a:latin typeface="Poppins"/>
                <a:ea typeface="Poppins"/>
                <a:cs typeface="Poppins"/>
                <a:sym typeface="Poppins"/>
              </a:rPr>
              <a:t>&gt;4.22%</a:t>
            </a:r>
            <a:endParaRPr b="1" sz="1700">
              <a:solidFill>
                <a:srgbClr val="28A745"/>
              </a:solidFill>
              <a:latin typeface="Poppins"/>
              <a:ea typeface="Poppins"/>
              <a:cs typeface="Poppins"/>
              <a:sym typeface="Poppins"/>
            </a:endParaRPr>
          </a:p>
          <a:p>
            <a:pPr indent="0" lvl="0" marL="0" rtl="0" algn="l">
              <a:lnSpc>
                <a:spcPct val="90000"/>
              </a:lnSpc>
              <a:spcBef>
                <a:spcPts val="500"/>
              </a:spcBef>
              <a:spcAft>
                <a:spcPts val="0"/>
              </a:spcAft>
              <a:buNone/>
            </a:pPr>
            <a:r>
              <a:rPr lang="en" sz="600">
                <a:solidFill>
                  <a:srgbClr val="28A745"/>
                </a:solidFill>
                <a:latin typeface="Poppins"/>
                <a:ea typeface="Poppins"/>
                <a:cs typeface="Poppins"/>
                <a:sym typeface="Poppins"/>
              </a:rPr>
              <a:t>Top performance within your niche </a:t>
            </a:r>
            <a:endParaRPr sz="600">
              <a:solidFill>
                <a:srgbClr val="28A745"/>
              </a:solidFill>
              <a:latin typeface="Poppins"/>
              <a:ea typeface="Poppins"/>
              <a:cs typeface="Poppins"/>
              <a:sym typeface="Poppins"/>
            </a:endParaRPr>
          </a:p>
          <a:p>
            <a:pPr indent="0" lvl="0" marL="0" rtl="0" algn="l">
              <a:spcBef>
                <a:spcPts val="500"/>
              </a:spcBef>
              <a:spcAft>
                <a:spcPts val="0"/>
              </a:spcAft>
              <a:buNone/>
            </a:pPr>
            <a:r>
              <a:t/>
            </a:r>
            <a:endParaRPr b="1" sz="1700">
              <a:solidFill>
                <a:srgbClr val="4385F4"/>
              </a:solidFill>
              <a:latin typeface="Poppins"/>
              <a:ea typeface="Poppins"/>
              <a:cs typeface="Poppins"/>
              <a:sym typeface="Poppins"/>
            </a:endParaRPr>
          </a:p>
        </p:txBody>
      </p:sp>
      <p:sp>
        <p:nvSpPr>
          <p:cNvPr id="137" name="Google Shape;137;p22"/>
          <p:cNvSpPr/>
          <p:nvPr/>
        </p:nvSpPr>
        <p:spPr>
          <a:xfrm>
            <a:off x="6343600" y="1371600"/>
            <a:ext cx="2580600" cy="3200400"/>
          </a:xfrm>
          <a:prstGeom prst="rect">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434343"/>
                </a:solidFill>
                <a:latin typeface="Poppins"/>
                <a:ea typeface="Poppins"/>
                <a:cs typeface="Poppins"/>
                <a:sym typeface="Poppins"/>
              </a:rPr>
              <a:t>Your store’s average CVR (2.50%) is currently higher the industry median (1.23%) but significantly behind the top 25% of stores, which convert at over 4.22%. This gap presents a clear opportunity for growth, but also a reason for serious investigation and concern.</a:t>
            </a:r>
            <a:endParaRPr sz="1000">
              <a:solidFill>
                <a:srgbClr val="434343"/>
              </a:solidFill>
              <a:latin typeface="Poppins"/>
              <a:ea typeface="Poppins"/>
              <a:cs typeface="Poppins"/>
              <a:sym typeface="Poppins"/>
            </a:endParaRPr>
          </a:p>
          <a:p>
            <a:pPr indent="0" lvl="0" marL="0" rtl="0" algn="l">
              <a:spcBef>
                <a:spcPts val="0"/>
              </a:spcBef>
              <a:spcAft>
                <a:spcPts val="0"/>
              </a:spcAft>
              <a:buNone/>
            </a:pPr>
            <a:r>
              <a:t/>
            </a:r>
            <a:endParaRPr sz="1000">
              <a:solidFill>
                <a:srgbClr val="434343"/>
              </a:solidFill>
              <a:latin typeface="Poppins"/>
              <a:ea typeface="Poppins"/>
              <a:cs typeface="Poppins"/>
              <a:sym typeface="Poppins"/>
            </a:endParaRPr>
          </a:p>
          <a:p>
            <a:pPr indent="0" lvl="0" marL="0" rtl="0" algn="l">
              <a:spcBef>
                <a:spcPts val="0"/>
              </a:spcBef>
              <a:spcAft>
                <a:spcPts val="0"/>
              </a:spcAft>
              <a:buNone/>
            </a:pPr>
            <a:r>
              <a:rPr lang="en" sz="1000">
                <a:solidFill>
                  <a:srgbClr val="434343"/>
                </a:solidFill>
                <a:latin typeface="Poppins"/>
                <a:ea typeface="Poppins"/>
                <a:cs typeface="Poppins"/>
                <a:sym typeface="Poppins"/>
              </a:rPr>
              <a:t>In the slides ahead, we’ll outline actionable strategies and key insights to help improve your</a:t>
            </a:r>
            <a:r>
              <a:rPr lang="en" sz="1000">
                <a:solidFill>
                  <a:srgbClr val="434343"/>
                </a:solidFill>
                <a:latin typeface="Poppins"/>
                <a:ea typeface="Poppins"/>
                <a:cs typeface="Poppins"/>
                <a:sym typeface="Poppins"/>
              </a:rPr>
              <a:t> </a:t>
            </a:r>
            <a:r>
              <a:rPr lang="en" sz="1000">
                <a:solidFill>
                  <a:srgbClr val="434343"/>
                </a:solidFill>
                <a:latin typeface="Poppins"/>
                <a:ea typeface="Poppins"/>
                <a:cs typeface="Poppins"/>
                <a:sym typeface="Poppins"/>
              </a:rPr>
              <a:t>conversion rates. By targeting high-impact areas and maintaining testing momentum, your store can first reach the industry average—and then work toward top-tier performance.</a:t>
            </a:r>
            <a:endParaRPr sz="1000">
              <a:solidFill>
                <a:srgbClr val="434343"/>
              </a:solidFill>
              <a:latin typeface="Poppins"/>
              <a:ea typeface="Poppins"/>
              <a:cs typeface="Poppins"/>
              <a:sym typeface="Poppins"/>
            </a:endParaRPr>
          </a:p>
          <a:p>
            <a:pPr indent="0" lvl="0" marL="0" rtl="0" algn="l">
              <a:spcBef>
                <a:spcPts val="0"/>
              </a:spcBef>
              <a:spcAft>
                <a:spcPts val="0"/>
              </a:spcAft>
              <a:buNone/>
            </a:pPr>
            <a:r>
              <a:t/>
            </a:r>
            <a:endParaRPr sz="1000">
              <a:solidFill>
                <a:srgbClr val="434343"/>
              </a:solidFill>
              <a:latin typeface="Poppins"/>
              <a:ea typeface="Poppins"/>
              <a:cs typeface="Poppins"/>
              <a:sym typeface="Poppins"/>
            </a:endParaRPr>
          </a:p>
        </p:txBody>
      </p:sp>
      <p:cxnSp>
        <p:nvCxnSpPr>
          <p:cNvPr id="138" name="Google Shape;138;p22"/>
          <p:cNvCxnSpPr>
            <a:stCxn id="139" idx="2"/>
          </p:cNvCxnSpPr>
          <p:nvPr/>
        </p:nvCxnSpPr>
        <p:spPr>
          <a:xfrm>
            <a:off x="1485475" y="3038187"/>
            <a:ext cx="623100" cy="586800"/>
          </a:xfrm>
          <a:prstGeom prst="straightConnector1">
            <a:avLst/>
          </a:prstGeom>
          <a:noFill/>
          <a:ln cap="flat" cmpd="sng" w="9525">
            <a:solidFill>
              <a:srgbClr val="6284ED"/>
            </a:solidFill>
            <a:prstDash val="solid"/>
            <a:round/>
            <a:headEnd len="med" w="med" type="none"/>
            <a:tailEnd len="med" w="med" type="triangle"/>
          </a:ln>
        </p:spPr>
      </p:cxnSp>
      <p:sp>
        <p:nvSpPr>
          <p:cNvPr id="139" name="Google Shape;139;p22"/>
          <p:cNvSpPr txBox="1"/>
          <p:nvPr/>
        </p:nvSpPr>
        <p:spPr>
          <a:xfrm>
            <a:off x="1137775" y="2730387"/>
            <a:ext cx="695400" cy="307800"/>
          </a:xfrm>
          <a:prstGeom prst="rect">
            <a:avLst/>
          </a:prstGeom>
          <a:solidFill>
            <a:srgbClr val="6284E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FFFFFF"/>
                </a:solidFill>
              </a:rPr>
              <a:t>This is you </a:t>
            </a:r>
            <a:endParaRPr sz="800">
              <a:solidFill>
                <a:srgbClr val="FFFFFF"/>
              </a:solidFill>
            </a:endParaRPr>
          </a:p>
        </p:txBody>
      </p:sp>
      <p:pic>
        <p:nvPicPr>
          <p:cNvPr id="140" name="Google Shape;140;p22"/>
          <p:cNvPicPr preferRelativeResize="0"/>
          <p:nvPr/>
        </p:nvPicPr>
        <p:blipFill rotWithShape="1">
          <a:blip r:embed="rId4">
            <a:alphaModFix/>
          </a:blip>
          <a:srcRect b="56614" l="0" r="0" t="0"/>
          <a:stretch/>
        </p:blipFill>
        <p:spPr>
          <a:xfrm>
            <a:off x="650250" y="4274013"/>
            <a:ext cx="3517900" cy="222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p:nvPr/>
        </p:nvSpPr>
        <p:spPr>
          <a:xfrm>
            <a:off x="464525" y="1091925"/>
            <a:ext cx="5557200" cy="3632400"/>
          </a:xfrm>
          <a:prstGeom prst="roundRect">
            <a:avLst>
              <a:gd fmla="val 700" name="adj"/>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3"/>
          <p:cNvSpPr txBox="1"/>
          <p:nvPr>
            <p:ph type="title"/>
          </p:nvPr>
        </p:nvSpPr>
        <p:spPr>
          <a:xfrm>
            <a:off x="455550" y="265175"/>
            <a:ext cx="8232900" cy="7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300">
                <a:latin typeface="Outfit"/>
                <a:ea typeface="Outfit"/>
                <a:cs typeface="Outfit"/>
                <a:sym typeface="Outfit"/>
              </a:rPr>
              <a:t>Uses who enter through the homepage have a big drop off (77%) and just 23% of them proceed to the collection page</a:t>
            </a:r>
            <a:endParaRPr b="1" sz="2300">
              <a:latin typeface="Outfit"/>
              <a:ea typeface="Outfit"/>
              <a:cs typeface="Outfit"/>
              <a:sym typeface="Outfit"/>
            </a:endParaRPr>
          </a:p>
          <a:p>
            <a:pPr indent="0" lvl="0" marL="0" rtl="0" algn="l">
              <a:spcBef>
                <a:spcPts val="0"/>
              </a:spcBef>
              <a:spcAft>
                <a:spcPts val="0"/>
              </a:spcAft>
              <a:buNone/>
            </a:pPr>
            <a:r>
              <a:t/>
            </a:r>
            <a:endParaRPr b="1" sz="2300">
              <a:latin typeface="Outfit"/>
              <a:ea typeface="Outfit"/>
              <a:cs typeface="Outfit"/>
              <a:sym typeface="Outfit"/>
            </a:endParaRPr>
          </a:p>
        </p:txBody>
      </p:sp>
      <p:sp>
        <p:nvSpPr>
          <p:cNvPr id="147" name="Google Shape;147;p23"/>
          <p:cNvSpPr txBox="1"/>
          <p:nvPr/>
        </p:nvSpPr>
        <p:spPr>
          <a:xfrm>
            <a:off x="455550" y="4724400"/>
            <a:ext cx="7605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600">
                <a:solidFill>
                  <a:srgbClr val="B7B7B7"/>
                </a:solidFill>
                <a:latin typeface="Poppins Light"/>
                <a:ea typeface="Poppins Light"/>
                <a:cs typeface="Poppins Light"/>
                <a:sym typeface="Poppins Light"/>
              </a:rPr>
              <a:t>Source: GA Analytics from May  25- Jul 20  2025</a:t>
            </a:r>
            <a:endParaRPr i="1" sz="600">
              <a:solidFill>
                <a:srgbClr val="B7B7B7"/>
              </a:solidFill>
              <a:latin typeface="Poppins Light"/>
              <a:ea typeface="Poppins Light"/>
              <a:cs typeface="Poppins Light"/>
              <a:sym typeface="Poppins Light"/>
            </a:endParaRPr>
          </a:p>
          <a:p>
            <a:pPr indent="0" lvl="0" marL="0" rtl="0" algn="l">
              <a:spcBef>
                <a:spcPts val="0"/>
              </a:spcBef>
              <a:spcAft>
                <a:spcPts val="0"/>
              </a:spcAft>
              <a:buNone/>
            </a:pPr>
            <a:r>
              <a:t/>
            </a:r>
            <a:endParaRPr i="1" sz="600">
              <a:solidFill>
                <a:srgbClr val="B7B7B7"/>
              </a:solidFill>
              <a:latin typeface="Poppins Light"/>
              <a:ea typeface="Poppins Light"/>
              <a:cs typeface="Poppins Light"/>
              <a:sym typeface="Poppins Light"/>
            </a:endParaRPr>
          </a:p>
        </p:txBody>
      </p:sp>
      <p:sp>
        <p:nvSpPr>
          <p:cNvPr id="148" name="Google Shape;148;p23"/>
          <p:cNvSpPr txBox="1"/>
          <p:nvPr/>
        </p:nvSpPr>
        <p:spPr>
          <a:xfrm>
            <a:off x="511288" y="4301425"/>
            <a:ext cx="1099500" cy="283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800">
                <a:solidFill>
                  <a:srgbClr val="0D4162"/>
                </a:solidFill>
                <a:latin typeface="Outfit"/>
                <a:ea typeface="Outfit"/>
                <a:cs typeface="Outfit"/>
                <a:sym typeface="Outfit"/>
              </a:rPr>
              <a:t>abandonment rate</a:t>
            </a:r>
            <a:endParaRPr sz="800"/>
          </a:p>
        </p:txBody>
      </p:sp>
      <p:sp>
        <p:nvSpPr>
          <p:cNvPr id="149" name="Google Shape;149;p23"/>
          <p:cNvSpPr/>
          <p:nvPr/>
        </p:nvSpPr>
        <p:spPr>
          <a:xfrm>
            <a:off x="6165525" y="1092075"/>
            <a:ext cx="2521200" cy="3632400"/>
          </a:xfrm>
          <a:prstGeom prst="rect">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rtl="0" algn="l">
              <a:lnSpc>
                <a:spcPct val="115000"/>
              </a:lnSpc>
              <a:spcBef>
                <a:spcPts val="1500"/>
              </a:spcBef>
              <a:spcAft>
                <a:spcPts val="0"/>
              </a:spcAft>
              <a:buNone/>
            </a:pPr>
            <a:r>
              <a:rPr lang="en" sz="1000">
                <a:solidFill>
                  <a:srgbClr val="434343"/>
                </a:solidFill>
                <a:latin typeface="Poppins"/>
                <a:ea typeface="Poppins"/>
                <a:cs typeface="Poppins"/>
                <a:sym typeface="Poppins"/>
              </a:rPr>
              <a:t>Users who landed on the homepage had the lowest funnel conversion rate, just 0.44%. This is unusual, as homepage visitors typically explore more, become more familiar with the offer, and tend to convert better later in the funnel.</a:t>
            </a:r>
            <a:endParaRPr sz="1000">
              <a:solidFill>
                <a:srgbClr val="434343"/>
              </a:solidFill>
              <a:latin typeface="Poppins"/>
              <a:ea typeface="Poppins"/>
              <a:cs typeface="Poppins"/>
              <a:sym typeface="Poppins"/>
            </a:endParaRPr>
          </a:p>
          <a:p>
            <a:pPr indent="0" lvl="0" marL="0" rtl="0" algn="l">
              <a:lnSpc>
                <a:spcPct val="115000"/>
              </a:lnSpc>
              <a:spcBef>
                <a:spcPts val="1500"/>
              </a:spcBef>
              <a:spcAft>
                <a:spcPts val="0"/>
              </a:spcAft>
              <a:buNone/>
            </a:pPr>
            <a:r>
              <a:rPr lang="en" sz="1000">
                <a:solidFill>
                  <a:srgbClr val="434343"/>
                </a:solidFill>
                <a:latin typeface="Poppins"/>
                <a:ea typeface="Poppins"/>
                <a:cs typeface="Poppins"/>
                <a:sym typeface="Poppins"/>
              </a:rPr>
              <a:t>However</a:t>
            </a:r>
            <a:r>
              <a:rPr lang="en" sz="1000">
                <a:solidFill>
                  <a:srgbClr val="434343"/>
                </a:solidFill>
                <a:latin typeface="Poppins"/>
                <a:ea typeface="Poppins"/>
                <a:cs typeface="Poppins"/>
                <a:sym typeface="Poppins"/>
              </a:rPr>
              <a:t>,</a:t>
            </a:r>
            <a:r>
              <a:rPr lang="en" sz="1000">
                <a:solidFill>
                  <a:srgbClr val="434343"/>
                </a:solidFill>
                <a:latin typeface="Poppins"/>
                <a:ea typeface="Poppins"/>
                <a:cs typeface="Poppins"/>
                <a:sym typeface="Poppins"/>
              </a:rPr>
              <a:t> most users drop off before moving to other pages, and the cart rate drop-off is the lowest among all navigation paths. </a:t>
            </a:r>
            <a:endParaRPr sz="1000">
              <a:solidFill>
                <a:srgbClr val="434343"/>
              </a:solidFill>
              <a:latin typeface="Poppins"/>
              <a:ea typeface="Poppins"/>
              <a:cs typeface="Poppins"/>
              <a:sym typeface="Poppins"/>
            </a:endParaRPr>
          </a:p>
          <a:p>
            <a:pPr indent="0" lvl="0" marL="0" rtl="0" algn="l">
              <a:lnSpc>
                <a:spcPct val="115000"/>
              </a:lnSpc>
              <a:spcBef>
                <a:spcPts val="1500"/>
              </a:spcBef>
              <a:spcAft>
                <a:spcPts val="1500"/>
              </a:spcAft>
              <a:buNone/>
            </a:pPr>
            <a:r>
              <a:rPr lang="en" sz="1000">
                <a:solidFill>
                  <a:srgbClr val="434343"/>
                </a:solidFill>
                <a:latin typeface="Poppins"/>
                <a:ea typeface="Poppins"/>
                <a:cs typeface="Poppins"/>
                <a:sym typeface="Poppins"/>
              </a:rPr>
              <a:t>This clearly shows that the homepage is not educating users or setting clear expectations from the start, leading to frustration and early drop-off.</a:t>
            </a:r>
            <a:endParaRPr sz="1000">
              <a:solidFill>
                <a:srgbClr val="434343"/>
              </a:solidFill>
              <a:latin typeface="Poppins"/>
              <a:ea typeface="Poppins"/>
              <a:cs typeface="Poppins"/>
              <a:sym typeface="Poppins"/>
            </a:endParaRPr>
          </a:p>
        </p:txBody>
      </p:sp>
      <p:sp>
        <p:nvSpPr>
          <p:cNvPr id="150" name="Google Shape;150;p23"/>
          <p:cNvSpPr txBox="1"/>
          <p:nvPr/>
        </p:nvSpPr>
        <p:spPr>
          <a:xfrm>
            <a:off x="3566299" y="4306138"/>
            <a:ext cx="430800" cy="276900"/>
          </a:xfrm>
          <a:prstGeom prst="rect">
            <a:avLst/>
          </a:prstGeom>
          <a:solidFill>
            <a:srgbClr val="9FC5E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Poppins"/>
                <a:ea typeface="Poppins"/>
                <a:cs typeface="Poppins"/>
                <a:sym typeface="Poppins"/>
              </a:rPr>
              <a:t>54%</a:t>
            </a:r>
            <a:endParaRPr b="1" sz="600">
              <a:latin typeface="Poppins"/>
              <a:ea typeface="Poppins"/>
              <a:cs typeface="Poppins"/>
              <a:sym typeface="Poppins"/>
            </a:endParaRPr>
          </a:p>
        </p:txBody>
      </p:sp>
      <p:sp>
        <p:nvSpPr>
          <p:cNvPr id="151" name="Google Shape;151;p23"/>
          <p:cNvSpPr txBox="1"/>
          <p:nvPr/>
        </p:nvSpPr>
        <p:spPr>
          <a:xfrm>
            <a:off x="2882374" y="4306138"/>
            <a:ext cx="430800" cy="276900"/>
          </a:xfrm>
          <a:prstGeom prst="rect">
            <a:avLst/>
          </a:prstGeom>
          <a:solidFill>
            <a:srgbClr val="9FC5E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Poppins"/>
                <a:ea typeface="Poppins"/>
                <a:cs typeface="Poppins"/>
                <a:sym typeface="Poppins"/>
              </a:rPr>
              <a:t>63%</a:t>
            </a:r>
            <a:endParaRPr b="1" sz="600">
              <a:latin typeface="Poppins"/>
              <a:ea typeface="Poppins"/>
              <a:cs typeface="Poppins"/>
              <a:sym typeface="Poppins"/>
            </a:endParaRPr>
          </a:p>
        </p:txBody>
      </p:sp>
      <p:sp>
        <p:nvSpPr>
          <p:cNvPr id="152" name="Google Shape;152;p23"/>
          <p:cNvSpPr txBox="1"/>
          <p:nvPr/>
        </p:nvSpPr>
        <p:spPr>
          <a:xfrm>
            <a:off x="2226575" y="4304575"/>
            <a:ext cx="430800" cy="276900"/>
          </a:xfrm>
          <a:prstGeom prst="rect">
            <a:avLst/>
          </a:prstGeom>
          <a:solidFill>
            <a:srgbClr val="9FC5E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Poppins"/>
                <a:ea typeface="Poppins"/>
                <a:cs typeface="Poppins"/>
                <a:sym typeface="Poppins"/>
              </a:rPr>
              <a:t>66%</a:t>
            </a:r>
            <a:endParaRPr b="1" sz="600">
              <a:latin typeface="Poppins"/>
              <a:ea typeface="Poppins"/>
              <a:cs typeface="Poppins"/>
              <a:sym typeface="Poppins"/>
            </a:endParaRPr>
          </a:p>
        </p:txBody>
      </p:sp>
      <p:sp>
        <p:nvSpPr>
          <p:cNvPr id="153" name="Google Shape;153;p23"/>
          <p:cNvSpPr txBox="1"/>
          <p:nvPr/>
        </p:nvSpPr>
        <p:spPr>
          <a:xfrm>
            <a:off x="1570786" y="4304575"/>
            <a:ext cx="430800" cy="276900"/>
          </a:xfrm>
          <a:prstGeom prst="rect">
            <a:avLst/>
          </a:prstGeom>
          <a:solidFill>
            <a:srgbClr val="FF5F6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Poppins"/>
                <a:ea typeface="Poppins"/>
                <a:cs typeface="Poppins"/>
                <a:sym typeface="Poppins"/>
              </a:rPr>
              <a:t>77%</a:t>
            </a:r>
            <a:endParaRPr b="1" sz="600">
              <a:latin typeface="Poppins"/>
              <a:ea typeface="Poppins"/>
              <a:cs typeface="Poppins"/>
              <a:sym typeface="Poppins"/>
            </a:endParaRPr>
          </a:p>
        </p:txBody>
      </p:sp>
      <p:sp>
        <p:nvSpPr>
          <p:cNvPr id="154" name="Google Shape;154;p23"/>
          <p:cNvSpPr txBox="1"/>
          <p:nvPr/>
        </p:nvSpPr>
        <p:spPr>
          <a:xfrm>
            <a:off x="2438522" y="2645975"/>
            <a:ext cx="701700" cy="307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rgbClr val="5ABD8C"/>
                </a:solidFill>
                <a:latin typeface="Poppins"/>
                <a:ea typeface="Poppins"/>
                <a:cs typeface="Poppins"/>
                <a:sym typeface="Poppins"/>
              </a:rPr>
              <a:t>28% ATC!</a:t>
            </a:r>
            <a:endParaRPr b="1" sz="800">
              <a:solidFill>
                <a:srgbClr val="5ABD8C"/>
              </a:solidFill>
              <a:latin typeface="Poppins"/>
              <a:ea typeface="Poppins"/>
              <a:cs typeface="Poppins"/>
              <a:sym typeface="Poppins"/>
            </a:endParaRPr>
          </a:p>
        </p:txBody>
      </p:sp>
      <p:sp>
        <p:nvSpPr>
          <p:cNvPr id="155" name="Google Shape;155;p23"/>
          <p:cNvSpPr txBox="1"/>
          <p:nvPr/>
        </p:nvSpPr>
        <p:spPr>
          <a:xfrm>
            <a:off x="4236138" y="4304575"/>
            <a:ext cx="430800" cy="276900"/>
          </a:xfrm>
          <a:prstGeom prst="rect">
            <a:avLst/>
          </a:prstGeom>
          <a:solidFill>
            <a:srgbClr val="9FC5E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Poppins"/>
                <a:ea typeface="Poppins"/>
                <a:cs typeface="Poppins"/>
                <a:sym typeface="Poppins"/>
              </a:rPr>
              <a:t>67%</a:t>
            </a:r>
            <a:endParaRPr b="1" sz="600">
              <a:latin typeface="Poppins"/>
              <a:ea typeface="Poppins"/>
              <a:cs typeface="Poppins"/>
              <a:sym typeface="Poppins"/>
            </a:endParaRPr>
          </a:p>
        </p:txBody>
      </p:sp>
      <p:sp>
        <p:nvSpPr>
          <p:cNvPr id="156" name="Google Shape;156;p23"/>
          <p:cNvSpPr txBox="1"/>
          <p:nvPr/>
        </p:nvSpPr>
        <p:spPr>
          <a:xfrm>
            <a:off x="4906000" y="4323225"/>
            <a:ext cx="701700" cy="258300"/>
          </a:xfrm>
          <a:prstGeom prst="rect">
            <a:avLst/>
          </a:prstGeom>
          <a:solidFill>
            <a:srgbClr val="9FC5E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solidFill>
                  <a:schemeClr val="dk1"/>
                </a:solidFill>
                <a:latin typeface="Poppins"/>
                <a:ea typeface="Poppins"/>
                <a:cs typeface="Poppins"/>
                <a:sym typeface="Poppins"/>
              </a:rPr>
              <a:t>0.44% CVR</a:t>
            </a:r>
            <a:endParaRPr b="1" sz="700">
              <a:solidFill>
                <a:schemeClr val="dk1"/>
              </a:solidFill>
              <a:latin typeface="Poppins"/>
              <a:ea typeface="Poppins"/>
              <a:cs typeface="Poppins"/>
              <a:sym typeface="Poppins"/>
            </a:endParaRPr>
          </a:p>
        </p:txBody>
      </p:sp>
      <p:pic>
        <p:nvPicPr>
          <p:cNvPr id="157" name="Google Shape;157;p23" title="Chart"/>
          <p:cNvPicPr preferRelativeResize="0"/>
          <p:nvPr/>
        </p:nvPicPr>
        <p:blipFill>
          <a:blip r:embed="rId3">
            <a:alphaModFix/>
          </a:blip>
          <a:stretch>
            <a:fillRect/>
          </a:stretch>
        </p:blipFill>
        <p:spPr>
          <a:xfrm>
            <a:off x="596175" y="1141450"/>
            <a:ext cx="5140800" cy="3178724"/>
          </a:xfrm>
          <a:prstGeom prst="rect">
            <a:avLst/>
          </a:prstGeom>
          <a:noFill/>
          <a:ln>
            <a:noFill/>
          </a:ln>
        </p:spPr>
      </p:pic>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p:nvPr/>
        </p:nvSpPr>
        <p:spPr>
          <a:xfrm>
            <a:off x="464525" y="1319000"/>
            <a:ext cx="5557200" cy="3405300"/>
          </a:xfrm>
          <a:prstGeom prst="roundRect">
            <a:avLst>
              <a:gd fmla="val 700" name="adj"/>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4"/>
          <p:cNvSpPr txBox="1"/>
          <p:nvPr>
            <p:ph type="title"/>
          </p:nvPr>
        </p:nvSpPr>
        <p:spPr>
          <a:xfrm>
            <a:off x="455550" y="265175"/>
            <a:ext cx="8232900" cy="7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300">
                <a:latin typeface="Outfit"/>
                <a:ea typeface="Outfit"/>
                <a:cs typeface="Outfit"/>
                <a:sym typeface="Outfit"/>
              </a:rPr>
              <a:t>Even users who enter through the product also have a big drop off (89%) and just 11% of them adding products to their cart</a:t>
            </a:r>
            <a:endParaRPr b="1" sz="2300">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b="1" sz="2300">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t/>
            </a:r>
            <a:endParaRPr b="1" sz="2300">
              <a:latin typeface="Outfit"/>
              <a:ea typeface="Outfit"/>
              <a:cs typeface="Outfit"/>
              <a:sym typeface="Outfit"/>
            </a:endParaRPr>
          </a:p>
        </p:txBody>
      </p:sp>
      <p:sp>
        <p:nvSpPr>
          <p:cNvPr id="164" name="Google Shape;164;p24"/>
          <p:cNvSpPr/>
          <p:nvPr/>
        </p:nvSpPr>
        <p:spPr>
          <a:xfrm>
            <a:off x="6165525" y="1319175"/>
            <a:ext cx="2521200" cy="3405300"/>
          </a:xfrm>
          <a:prstGeom prst="rect">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rtl="0" algn="l">
              <a:lnSpc>
                <a:spcPct val="115000"/>
              </a:lnSpc>
              <a:spcBef>
                <a:spcPts val="1500"/>
              </a:spcBef>
              <a:spcAft>
                <a:spcPts val="0"/>
              </a:spcAft>
              <a:buNone/>
            </a:pPr>
            <a:r>
              <a:rPr lang="en" sz="900">
                <a:solidFill>
                  <a:srgbClr val="434343"/>
                </a:solidFill>
                <a:latin typeface="Poppins"/>
                <a:ea typeface="Poppins"/>
                <a:cs typeface="Poppins"/>
                <a:sym typeface="Poppins"/>
              </a:rPr>
              <a:t>A similar scenario happens here, but it’s somewhat expected: users also tend to drop off early when starting from product pages.</a:t>
            </a:r>
            <a:endParaRPr sz="900">
              <a:solidFill>
                <a:srgbClr val="434343"/>
              </a:solidFill>
              <a:latin typeface="Poppins"/>
              <a:ea typeface="Poppins"/>
              <a:cs typeface="Poppins"/>
              <a:sym typeface="Poppins"/>
            </a:endParaRPr>
          </a:p>
          <a:p>
            <a:pPr indent="0" lvl="0" marL="0" rtl="0" algn="l">
              <a:lnSpc>
                <a:spcPct val="115000"/>
              </a:lnSpc>
              <a:spcBef>
                <a:spcPts val="1500"/>
              </a:spcBef>
              <a:spcAft>
                <a:spcPts val="0"/>
              </a:spcAft>
              <a:buNone/>
            </a:pPr>
            <a:r>
              <a:rPr lang="en" sz="900">
                <a:solidFill>
                  <a:srgbClr val="434343"/>
                </a:solidFill>
                <a:latin typeface="Poppins"/>
                <a:ea typeface="Poppins"/>
                <a:cs typeface="Poppins"/>
                <a:sym typeface="Poppins"/>
              </a:rPr>
              <a:t>What’s surprising, and uncommon in most e-commerce sites, is that starting from product pages results in the highest final conversion and checkout rates. This suggests that the additional steps involved when users start from the homepage or collections are not persuasive or helpful in guiding them to the right product.</a:t>
            </a:r>
            <a:endParaRPr sz="900">
              <a:solidFill>
                <a:srgbClr val="434343"/>
              </a:solidFill>
              <a:latin typeface="Poppins"/>
              <a:ea typeface="Poppins"/>
              <a:cs typeface="Poppins"/>
              <a:sym typeface="Poppins"/>
            </a:endParaRPr>
          </a:p>
          <a:p>
            <a:pPr indent="0" lvl="0" marL="0" rtl="0" algn="l">
              <a:lnSpc>
                <a:spcPct val="115000"/>
              </a:lnSpc>
              <a:spcBef>
                <a:spcPts val="1500"/>
              </a:spcBef>
              <a:spcAft>
                <a:spcPts val="1500"/>
              </a:spcAft>
              <a:buNone/>
            </a:pPr>
            <a:r>
              <a:rPr lang="en" sz="900">
                <a:solidFill>
                  <a:srgbClr val="434343"/>
                </a:solidFill>
                <a:latin typeface="Poppins"/>
                <a:ea typeface="Poppins"/>
                <a:cs typeface="Poppins"/>
                <a:sym typeface="Poppins"/>
              </a:rPr>
              <a:t>That said, when we look closely at product page performance, there’s still room for improvement, especially in reducing bounce rate and encouraging users to add more items to the cart.</a:t>
            </a:r>
            <a:endParaRPr sz="900">
              <a:solidFill>
                <a:srgbClr val="434343"/>
              </a:solidFill>
              <a:latin typeface="Poppins"/>
              <a:ea typeface="Poppins"/>
              <a:cs typeface="Poppins"/>
              <a:sym typeface="Poppins"/>
            </a:endParaRPr>
          </a:p>
        </p:txBody>
      </p:sp>
      <p:sp>
        <p:nvSpPr>
          <p:cNvPr id="165" name="Google Shape;165;p24"/>
          <p:cNvSpPr txBox="1"/>
          <p:nvPr/>
        </p:nvSpPr>
        <p:spPr>
          <a:xfrm>
            <a:off x="455550" y="47914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600">
                <a:solidFill>
                  <a:srgbClr val="B7B7B7"/>
                </a:solidFill>
                <a:latin typeface="Poppins Light"/>
                <a:ea typeface="Poppins Light"/>
                <a:cs typeface="Poppins Light"/>
                <a:sym typeface="Poppins Light"/>
              </a:rPr>
              <a:t>Source: GA Analytics from May  25- Jul 20  2025</a:t>
            </a:r>
            <a:endParaRPr i="1" sz="600">
              <a:solidFill>
                <a:srgbClr val="B7B7B7"/>
              </a:solidFill>
              <a:latin typeface="Poppins Light"/>
              <a:ea typeface="Poppins Light"/>
              <a:cs typeface="Poppins Light"/>
              <a:sym typeface="Poppins Light"/>
            </a:endParaRPr>
          </a:p>
          <a:p>
            <a:pPr indent="0" lvl="0" marL="0" rtl="0" algn="l">
              <a:spcBef>
                <a:spcPts val="0"/>
              </a:spcBef>
              <a:spcAft>
                <a:spcPts val="0"/>
              </a:spcAft>
              <a:buNone/>
            </a:pPr>
            <a:r>
              <a:t/>
            </a:r>
            <a:endParaRPr i="1" sz="600">
              <a:solidFill>
                <a:srgbClr val="B7B7B7"/>
              </a:solidFill>
              <a:latin typeface="Poppins Light"/>
              <a:ea typeface="Poppins Light"/>
              <a:cs typeface="Poppins Light"/>
              <a:sym typeface="Poppins Light"/>
            </a:endParaRPr>
          </a:p>
          <a:p>
            <a:pPr indent="0" lvl="0" marL="0" rtl="0" algn="l">
              <a:spcBef>
                <a:spcPts val="0"/>
              </a:spcBef>
              <a:spcAft>
                <a:spcPts val="0"/>
              </a:spcAft>
              <a:buNone/>
            </a:pPr>
            <a:r>
              <a:t/>
            </a:r>
            <a:endParaRPr i="1" sz="600">
              <a:solidFill>
                <a:srgbClr val="B7B7B7"/>
              </a:solidFill>
              <a:latin typeface="Poppins Light"/>
              <a:ea typeface="Poppins Light"/>
              <a:cs typeface="Poppins Light"/>
              <a:sym typeface="Poppins Light"/>
            </a:endParaRPr>
          </a:p>
        </p:txBody>
      </p:sp>
      <p:pic>
        <p:nvPicPr>
          <p:cNvPr id="166" name="Google Shape;166;p24" title="Chart"/>
          <p:cNvPicPr preferRelativeResize="0"/>
          <p:nvPr/>
        </p:nvPicPr>
        <p:blipFill>
          <a:blip r:embed="rId3">
            <a:alphaModFix/>
          </a:blip>
          <a:stretch>
            <a:fillRect/>
          </a:stretch>
        </p:blipFill>
        <p:spPr>
          <a:xfrm>
            <a:off x="511300" y="1369550"/>
            <a:ext cx="4766901" cy="2947491"/>
          </a:xfrm>
          <a:prstGeom prst="rect">
            <a:avLst/>
          </a:prstGeom>
          <a:noFill/>
          <a:ln>
            <a:noFill/>
          </a:ln>
        </p:spPr>
      </p:pic>
      <p:sp>
        <p:nvSpPr>
          <p:cNvPr id="167" name="Google Shape;167;p24"/>
          <p:cNvSpPr txBox="1"/>
          <p:nvPr/>
        </p:nvSpPr>
        <p:spPr>
          <a:xfrm>
            <a:off x="511288" y="4301425"/>
            <a:ext cx="1099500" cy="283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800">
                <a:solidFill>
                  <a:srgbClr val="0D4162"/>
                </a:solidFill>
                <a:latin typeface="Outfit"/>
                <a:ea typeface="Outfit"/>
                <a:cs typeface="Outfit"/>
                <a:sym typeface="Outfit"/>
              </a:rPr>
              <a:t>Abandonment rate</a:t>
            </a:r>
            <a:endParaRPr sz="800"/>
          </a:p>
        </p:txBody>
      </p:sp>
      <p:sp>
        <p:nvSpPr>
          <p:cNvPr id="168" name="Google Shape;168;p24"/>
          <p:cNvSpPr txBox="1"/>
          <p:nvPr/>
        </p:nvSpPr>
        <p:spPr>
          <a:xfrm>
            <a:off x="4263125" y="4304575"/>
            <a:ext cx="706200" cy="276900"/>
          </a:xfrm>
          <a:prstGeom prst="rect">
            <a:avLst/>
          </a:prstGeom>
          <a:solidFill>
            <a:srgbClr val="9FC5E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700">
                <a:solidFill>
                  <a:srgbClr val="212121"/>
                </a:solidFill>
                <a:latin typeface="Poppins"/>
                <a:ea typeface="Poppins"/>
                <a:cs typeface="Poppins"/>
                <a:sym typeface="Poppins"/>
              </a:rPr>
              <a:t>1.74% CVR</a:t>
            </a:r>
            <a:endParaRPr b="1" sz="700">
              <a:solidFill>
                <a:srgbClr val="212121"/>
              </a:solidFill>
              <a:latin typeface="Poppins"/>
              <a:ea typeface="Poppins"/>
              <a:cs typeface="Poppins"/>
              <a:sym typeface="Poppins"/>
            </a:endParaRPr>
          </a:p>
        </p:txBody>
      </p:sp>
      <p:sp>
        <p:nvSpPr>
          <p:cNvPr id="169" name="Google Shape;169;p24"/>
          <p:cNvSpPr txBox="1"/>
          <p:nvPr/>
        </p:nvSpPr>
        <p:spPr>
          <a:xfrm>
            <a:off x="3338875" y="4304575"/>
            <a:ext cx="619200" cy="276900"/>
          </a:xfrm>
          <a:prstGeom prst="rect">
            <a:avLst/>
          </a:prstGeom>
          <a:solidFill>
            <a:srgbClr val="9FC5E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Poppins"/>
                <a:ea typeface="Poppins"/>
                <a:cs typeface="Poppins"/>
                <a:sym typeface="Poppins"/>
              </a:rPr>
              <a:t>43%</a:t>
            </a:r>
            <a:endParaRPr b="1" sz="600">
              <a:latin typeface="Poppins"/>
              <a:ea typeface="Poppins"/>
              <a:cs typeface="Poppins"/>
              <a:sym typeface="Poppins"/>
            </a:endParaRPr>
          </a:p>
        </p:txBody>
      </p:sp>
      <p:sp>
        <p:nvSpPr>
          <p:cNvPr id="170" name="Google Shape;170;p24"/>
          <p:cNvSpPr txBox="1"/>
          <p:nvPr/>
        </p:nvSpPr>
        <p:spPr>
          <a:xfrm>
            <a:off x="2447725" y="4304575"/>
            <a:ext cx="619200" cy="276900"/>
          </a:xfrm>
          <a:prstGeom prst="rect">
            <a:avLst/>
          </a:prstGeom>
          <a:solidFill>
            <a:srgbClr val="9FC5E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Poppins"/>
                <a:ea typeface="Poppins"/>
                <a:cs typeface="Poppins"/>
                <a:sym typeface="Poppins"/>
              </a:rPr>
              <a:t>71%</a:t>
            </a:r>
            <a:endParaRPr b="1" sz="600">
              <a:latin typeface="Poppins"/>
              <a:ea typeface="Poppins"/>
              <a:cs typeface="Poppins"/>
              <a:sym typeface="Poppins"/>
            </a:endParaRPr>
          </a:p>
        </p:txBody>
      </p:sp>
      <p:sp>
        <p:nvSpPr>
          <p:cNvPr id="171" name="Google Shape;171;p24"/>
          <p:cNvSpPr txBox="1"/>
          <p:nvPr/>
        </p:nvSpPr>
        <p:spPr>
          <a:xfrm>
            <a:off x="1556575" y="4304575"/>
            <a:ext cx="619200" cy="276900"/>
          </a:xfrm>
          <a:prstGeom prst="rect">
            <a:avLst/>
          </a:prstGeom>
          <a:solidFill>
            <a:srgbClr val="FF5F6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latin typeface="Poppins"/>
                <a:ea typeface="Poppins"/>
                <a:cs typeface="Poppins"/>
                <a:sym typeface="Poppins"/>
              </a:rPr>
              <a:t>89%</a:t>
            </a:r>
            <a:endParaRPr b="1" sz="600">
              <a:latin typeface="Poppins"/>
              <a:ea typeface="Poppins"/>
              <a:cs typeface="Poppins"/>
              <a:sym typeface="Poppins"/>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p:nvPr/>
        </p:nvSpPr>
        <p:spPr>
          <a:xfrm>
            <a:off x="333375" y="3956550"/>
            <a:ext cx="8229600" cy="735900"/>
          </a:xfrm>
          <a:prstGeom prst="roundRect">
            <a:avLst>
              <a:gd fmla="val 3826" name="adj"/>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434343"/>
                </a:solidFill>
                <a:latin typeface="Poppins"/>
                <a:ea typeface="Poppins"/>
                <a:cs typeface="Poppins"/>
                <a:sym typeface="Poppins"/>
              </a:rPr>
              <a:t>Comparing different page types, it’s clear that product pages receive the majority of traffic (59.3%) and have a good average session duration (higher than other stages), but also show a significant bounce rate (5.9%). This highlights the importance of capturing users' attention in the first sections to prevent them from leaving the page too soon.</a:t>
            </a:r>
            <a:endParaRPr sz="1000">
              <a:solidFill>
                <a:srgbClr val="434343"/>
              </a:solidFill>
              <a:latin typeface="Poppins"/>
              <a:ea typeface="Poppins"/>
              <a:cs typeface="Poppins"/>
              <a:sym typeface="Poppins"/>
            </a:endParaRPr>
          </a:p>
        </p:txBody>
      </p:sp>
      <p:sp>
        <p:nvSpPr>
          <p:cNvPr id="177" name="Google Shape;177;p25"/>
          <p:cNvSpPr/>
          <p:nvPr/>
        </p:nvSpPr>
        <p:spPr>
          <a:xfrm>
            <a:off x="333375" y="1257300"/>
            <a:ext cx="8229600" cy="2628900"/>
          </a:xfrm>
          <a:prstGeom prst="rect">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								</a:t>
            </a:r>
            <a:endParaRPr b="0" i="0" sz="1400" u="none" cap="none" strike="noStrike">
              <a:solidFill>
                <a:srgbClr val="000000"/>
              </a:solidFill>
              <a:latin typeface="Arial"/>
              <a:ea typeface="Arial"/>
              <a:cs typeface="Arial"/>
              <a:sym typeface="Arial"/>
            </a:endParaRPr>
          </a:p>
        </p:txBody>
      </p:sp>
      <p:sp>
        <p:nvSpPr>
          <p:cNvPr id="178" name="Google Shape;178;p25"/>
          <p:cNvSpPr txBox="1"/>
          <p:nvPr>
            <p:ph type="title"/>
          </p:nvPr>
        </p:nvSpPr>
        <p:spPr>
          <a:xfrm>
            <a:off x="457200" y="265175"/>
            <a:ext cx="8229600" cy="83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D4162"/>
                </a:solidFill>
                <a:latin typeface="Outfit"/>
                <a:ea typeface="Outfit"/>
                <a:cs typeface="Outfit"/>
                <a:sym typeface="Outfit"/>
              </a:rPr>
              <a:t>We should focus on improving the product page content for new users, mainly because of the higher bounce rate despite a good average session duration</a:t>
            </a:r>
            <a:endParaRPr b="1" sz="2200">
              <a:solidFill>
                <a:srgbClr val="0D4162"/>
              </a:solidFill>
              <a:latin typeface="Outfit"/>
              <a:ea typeface="Outfit"/>
              <a:cs typeface="Outfit"/>
              <a:sym typeface="Outfit"/>
            </a:endParaRPr>
          </a:p>
        </p:txBody>
      </p:sp>
      <p:sp>
        <p:nvSpPr>
          <p:cNvPr id="179" name="Google Shape;179;p25"/>
          <p:cNvSpPr/>
          <p:nvPr/>
        </p:nvSpPr>
        <p:spPr>
          <a:xfrm>
            <a:off x="2194075" y="2094700"/>
            <a:ext cx="446400" cy="12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5"/>
          <p:cNvSpPr txBox="1"/>
          <p:nvPr/>
        </p:nvSpPr>
        <p:spPr>
          <a:xfrm>
            <a:off x="2178000" y="1997450"/>
            <a:ext cx="594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900">
              <a:latin typeface="Poppins"/>
              <a:ea typeface="Poppins"/>
              <a:cs typeface="Poppins"/>
              <a:sym typeface="Poppins"/>
            </a:endParaRPr>
          </a:p>
        </p:txBody>
      </p:sp>
      <p:sp>
        <p:nvSpPr>
          <p:cNvPr id="181" name="Google Shape;181;p25"/>
          <p:cNvSpPr txBox="1"/>
          <p:nvPr/>
        </p:nvSpPr>
        <p:spPr>
          <a:xfrm>
            <a:off x="333375" y="4768525"/>
            <a:ext cx="8229600" cy="2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600">
                <a:solidFill>
                  <a:srgbClr val="B7B7B7"/>
                </a:solidFill>
                <a:latin typeface="Poppins Light"/>
                <a:ea typeface="Poppins Light"/>
                <a:cs typeface="Poppins Light"/>
                <a:sym typeface="Poppins Light"/>
              </a:rPr>
              <a:t>Source: GA Analytics from May  25- Jul 20  2025</a:t>
            </a:r>
            <a:endParaRPr i="1" sz="600">
              <a:solidFill>
                <a:srgbClr val="B7B7B7"/>
              </a:solidFill>
              <a:latin typeface="Poppins Light"/>
              <a:ea typeface="Poppins Light"/>
              <a:cs typeface="Poppins Light"/>
              <a:sym typeface="Poppins Light"/>
            </a:endParaRPr>
          </a:p>
        </p:txBody>
      </p:sp>
      <p:graphicFrame>
        <p:nvGraphicFramePr>
          <p:cNvPr id="182" name="Google Shape;182;p25"/>
          <p:cNvGraphicFramePr/>
          <p:nvPr/>
        </p:nvGraphicFramePr>
        <p:xfrm>
          <a:off x="457188" y="1327650"/>
          <a:ext cx="3000000" cy="3000000"/>
        </p:xfrm>
        <a:graphic>
          <a:graphicData uri="http://schemas.openxmlformats.org/drawingml/2006/table">
            <a:tbl>
              <a:tblPr>
                <a:noFill/>
                <a:tableStyleId>{0C680069-4265-4CDA-A209-3993535E4D43}</a:tableStyleId>
              </a:tblPr>
              <a:tblGrid>
                <a:gridCol w="1837525"/>
                <a:gridCol w="1281275"/>
                <a:gridCol w="1430275"/>
                <a:gridCol w="1539550"/>
                <a:gridCol w="1911425"/>
              </a:tblGrid>
              <a:tr h="396600">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Page</a:t>
                      </a:r>
                      <a:endParaRPr b="1" sz="1000">
                        <a:solidFill>
                          <a:srgbClr val="FFFFFF"/>
                        </a:solidFill>
                        <a:latin typeface="Poppins"/>
                        <a:ea typeface="Poppins"/>
                        <a:cs typeface="Poppins"/>
                        <a:sym typeface="Poppins"/>
                      </a:endParaRPr>
                    </a:p>
                  </a:txBody>
                  <a:tcPr marT="19050" marB="19050" marR="76200" marL="76200" anchor="ctr">
                    <a:lnL cap="flat" cmpd="sng" w="8650">
                      <a:solidFill>
                        <a:srgbClr val="0A314A">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alpha val="0"/>
                        </a:srgbClr>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Sessions</a:t>
                      </a:r>
                      <a:endParaRPr b="1" sz="10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 Sessions</a:t>
                      </a:r>
                      <a:endParaRPr b="1" sz="10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Bounce Rate</a:t>
                      </a:r>
                      <a:endParaRPr b="1" sz="10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Avg. Session Duration</a:t>
                      </a:r>
                      <a:endParaRPr b="1" sz="10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r>
              <a:tr h="396600">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Home</a:t>
                      </a:r>
                      <a:endParaRPr sz="1000">
                        <a:latin typeface="Poppins"/>
                        <a:ea typeface="Poppins"/>
                        <a:cs typeface="Poppins"/>
                        <a:sym typeface="Poppins"/>
                      </a:endParaRPr>
                    </a:p>
                  </a:txBody>
                  <a:tcPr marT="19050" marB="19050" marR="76200" marL="76200" anchor="ctr">
                    <a:lnL cap="flat" cmpd="sng" w="9525">
                      <a:solidFill>
                        <a:srgbClr val="0A314A">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alpha val="0"/>
                        </a:srgbClr>
                      </a:solidFill>
                      <a:prstDash val="solid"/>
                      <a:round/>
                      <a:headEnd len="sm" w="sm" type="none"/>
                      <a:tailEnd len="sm" w="sm" type="none"/>
                    </a:lnT>
                    <a:lnB cap="flat" cmpd="sng" w="9525">
                      <a:solidFill>
                        <a:srgbClr val="F6F8F9">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4,587</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8.0%</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9.5%</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1m 17s</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96600">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Collection</a:t>
                      </a:r>
                      <a:endParaRPr sz="1000">
                        <a:latin typeface="Poppins"/>
                        <a:ea typeface="Poppins"/>
                        <a:cs typeface="Poppins"/>
                        <a:sym typeface="Poppins"/>
                      </a:endParaRPr>
                    </a:p>
                  </a:txBody>
                  <a:tcPr marT="19050" marB="19050" marR="76200" marL="76200" anchor="ctr">
                    <a:lnL cap="flat" cmpd="sng" w="9525">
                      <a:solidFill>
                        <a:srgbClr val="0A314A">
                          <a:alpha val="0"/>
                        </a:srgbClr>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alpha val="0"/>
                        </a:srgbClr>
                      </a:solidFill>
                      <a:prstDash val="solid"/>
                      <a:round/>
                      <a:headEnd len="sm" w="sm" type="none"/>
                      <a:tailEnd len="sm" w="sm" type="none"/>
                    </a:lnT>
                    <a:lnB cap="flat" cmpd="sng" w="9525">
                      <a:solidFill>
                        <a:srgbClr val="F6F8F9">
                          <a:alpha val="0"/>
                        </a:srgbClr>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8,563</a:t>
                      </a:r>
                      <a:endParaRPr sz="1000">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14.9%</a:t>
                      </a:r>
                      <a:endParaRPr sz="1000">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3.5%</a:t>
                      </a:r>
                      <a:endParaRPr sz="1000">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1m 11s</a:t>
                      </a:r>
                      <a:endParaRPr sz="1000">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96600">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Product</a:t>
                      </a:r>
                      <a:endParaRPr sz="1000">
                        <a:latin typeface="Poppins"/>
                        <a:ea typeface="Poppins"/>
                        <a:cs typeface="Poppins"/>
                        <a:sym typeface="Poppins"/>
                      </a:endParaRPr>
                    </a:p>
                  </a:txBody>
                  <a:tcPr marT="19050" marB="19050" marR="76200" marL="76200" anchor="ctr">
                    <a:lnL cap="flat" cmpd="sng" w="9525">
                      <a:solidFill>
                        <a:srgbClr val="0A314A">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alpha val="0"/>
                        </a:srgbClr>
                      </a:solidFill>
                      <a:prstDash val="solid"/>
                      <a:round/>
                      <a:headEnd len="sm" w="sm" type="none"/>
                      <a:tailEnd len="sm" w="sm" type="none"/>
                    </a:lnT>
                    <a:lnB cap="flat" cmpd="sng" w="9525">
                      <a:solidFill>
                        <a:srgbClr val="F6F8F9">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34,045</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1000">
                          <a:latin typeface="Poppins"/>
                          <a:ea typeface="Poppins"/>
                          <a:cs typeface="Poppins"/>
                          <a:sym typeface="Poppins"/>
                        </a:rPr>
                        <a:t>59.3%</a:t>
                      </a:r>
                      <a:endParaRPr b="1"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1000">
                          <a:latin typeface="Poppins"/>
                          <a:ea typeface="Poppins"/>
                          <a:cs typeface="Poppins"/>
                          <a:sym typeface="Poppins"/>
                        </a:rPr>
                        <a:t>5.9%</a:t>
                      </a:r>
                      <a:endParaRPr b="1"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1m 34s</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96600">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Cart</a:t>
                      </a:r>
                      <a:endParaRPr sz="1000">
                        <a:latin typeface="Poppins"/>
                        <a:ea typeface="Poppins"/>
                        <a:cs typeface="Poppins"/>
                        <a:sym typeface="Poppins"/>
                      </a:endParaRPr>
                    </a:p>
                  </a:txBody>
                  <a:tcPr marT="19050" marB="19050" marR="76200" marL="76200" anchor="ctr">
                    <a:lnL cap="flat" cmpd="sng" w="9525">
                      <a:solidFill>
                        <a:srgbClr val="0A314A">
                          <a:alpha val="0"/>
                        </a:srgbClr>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alpha val="0"/>
                        </a:srgbClr>
                      </a:solidFill>
                      <a:prstDash val="solid"/>
                      <a:round/>
                      <a:headEnd len="sm" w="sm" type="none"/>
                      <a:tailEnd len="sm" w="sm" type="none"/>
                    </a:lnT>
                    <a:lnB cap="flat" cmpd="sng" w="9525">
                      <a:solidFill>
                        <a:srgbClr val="F6F8F9">
                          <a:alpha val="0"/>
                        </a:srgbClr>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6,748</a:t>
                      </a:r>
                      <a:endParaRPr sz="1000">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11.8%</a:t>
                      </a:r>
                      <a:endParaRPr sz="1000">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2.3%</a:t>
                      </a:r>
                      <a:endParaRPr sz="1000">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1m 16s</a:t>
                      </a:r>
                      <a:endParaRPr sz="1000">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96600">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Checkout</a:t>
                      </a:r>
                      <a:endParaRPr sz="1000">
                        <a:latin typeface="Poppins"/>
                        <a:ea typeface="Poppins"/>
                        <a:cs typeface="Poppins"/>
                        <a:sym typeface="Poppins"/>
                      </a:endParaRPr>
                    </a:p>
                  </a:txBody>
                  <a:tcPr marT="19050" marB="19050" marR="76200" marL="76200" anchor="ctr">
                    <a:lnL cap="flat" cmpd="sng" w="9525">
                      <a:solidFill>
                        <a:srgbClr val="0A314A">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alpha val="0"/>
                        </a:srgbClr>
                      </a:solidFill>
                      <a:prstDash val="solid"/>
                      <a:round/>
                      <a:headEnd len="sm" w="sm" type="none"/>
                      <a:tailEnd len="sm" w="sm" type="none"/>
                    </a:lnT>
                    <a:lnB cap="flat" cmpd="sng" w="9525">
                      <a:solidFill>
                        <a:srgbClr val="F6F8F9">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3,448</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6.0%</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8.6%</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Poppins"/>
                          <a:ea typeface="Poppins"/>
                          <a:cs typeface="Poppins"/>
                          <a:sym typeface="Poppins"/>
                        </a:rPr>
                        <a:t>2m 29s</a:t>
                      </a:r>
                      <a:endParaRPr sz="1000">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bl>
          </a:graphicData>
        </a:graphic>
      </p:graphicFrame>
      <p:sp>
        <p:nvSpPr>
          <p:cNvPr id="183" name="Google Shape;183;p25"/>
          <p:cNvSpPr/>
          <p:nvPr/>
        </p:nvSpPr>
        <p:spPr>
          <a:xfrm>
            <a:off x="457300" y="2505450"/>
            <a:ext cx="8000100" cy="408600"/>
          </a:xfrm>
          <a:prstGeom prst="rect">
            <a:avLst/>
          </a:prstGeom>
          <a:solidFill>
            <a:srgbClr val="16C089">
              <a:alpha val="31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000">
              <a:solidFill>
                <a:schemeClr val="lt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p:nvPr/>
        </p:nvSpPr>
        <p:spPr>
          <a:xfrm>
            <a:off x="235950" y="1526425"/>
            <a:ext cx="5719200" cy="3275400"/>
          </a:xfrm>
          <a:prstGeom prst="rect">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6"/>
          <p:cNvSpPr txBox="1"/>
          <p:nvPr>
            <p:ph type="title"/>
          </p:nvPr>
        </p:nvSpPr>
        <p:spPr>
          <a:xfrm>
            <a:off x="457200" y="188975"/>
            <a:ext cx="8229600" cy="723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200">
                <a:latin typeface="Outfit ExtraBold"/>
                <a:ea typeface="Outfit ExtraBold"/>
                <a:cs typeface="Outfit ExtraBold"/>
                <a:sym typeface="Outfit ExtraBold"/>
              </a:rPr>
              <a:t>We should invest in capturing more leads and it's possible to have a more aggressive approach with the Email channel. It’s also worth prioritizing Paid Shopping over Paid Search</a:t>
            </a:r>
            <a:endParaRPr sz="2200">
              <a:latin typeface="Outfit ExtraBold"/>
              <a:ea typeface="Outfit ExtraBold"/>
              <a:cs typeface="Outfit ExtraBold"/>
              <a:sym typeface="Outfit ExtraBold"/>
            </a:endParaRPr>
          </a:p>
          <a:p>
            <a:pPr indent="0" lvl="0" marL="0" rtl="0" algn="l">
              <a:lnSpc>
                <a:spcPct val="115000"/>
              </a:lnSpc>
              <a:spcBef>
                <a:spcPts val="1200"/>
              </a:spcBef>
              <a:spcAft>
                <a:spcPts val="1200"/>
              </a:spcAft>
              <a:buNone/>
            </a:pPr>
            <a:r>
              <a:t/>
            </a:r>
            <a:endParaRPr sz="2200">
              <a:latin typeface="Outfit ExtraBold"/>
              <a:ea typeface="Outfit ExtraBold"/>
              <a:cs typeface="Outfit ExtraBold"/>
              <a:sym typeface="Outfit ExtraBold"/>
            </a:endParaRPr>
          </a:p>
        </p:txBody>
      </p:sp>
      <p:sp>
        <p:nvSpPr>
          <p:cNvPr id="190" name="Google Shape;190;p26"/>
          <p:cNvSpPr/>
          <p:nvPr/>
        </p:nvSpPr>
        <p:spPr>
          <a:xfrm>
            <a:off x="6117475" y="1526400"/>
            <a:ext cx="2775900" cy="3275400"/>
          </a:xfrm>
          <a:prstGeom prst="rect">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434343"/>
                </a:solidFill>
                <a:latin typeface="Poppins"/>
                <a:ea typeface="Poppins"/>
                <a:cs typeface="Poppins"/>
                <a:sym typeface="Poppins"/>
              </a:rPr>
              <a:t>Referral contributes 31.8% of users but has the lowest session duration, CVR, and RPV. This suggests that visitors coming from other websites are less interested in purchasing, and there’s room to improve the quality of backlinks.</a:t>
            </a:r>
            <a:endParaRPr sz="900">
              <a:solidFill>
                <a:srgbClr val="434343"/>
              </a:solidFill>
              <a:latin typeface="Poppins"/>
              <a:ea typeface="Poppins"/>
              <a:cs typeface="Poppins"/>
              <a:sym typeface="Poppins"/>
            </a:endParaRPr>
          </a:p>
          <a:p>
            <a:pPr indent="0" lvl="0" marL="0" rtl="0" algn="l">
              <a:spcBef>
                <a:spcPts val="0"/>
              </a:spcBef>
              <a:spcAft>
                <a:spcPts val="0"/>
              </a:spcAft>
              <a:buNone/>
            </a:pPr>
            <a:r>
              <a:t/>
            </a:r>
            <a:endParaRPr sz="900">
              <a:solidFill>
                <a:srgbClr val="434343"/>
              </a:solidFill>
              <a:latin typeface="Poppins"/>
              <a:ea typeface="Poppins"/>
              <a:cs typeface="Poppins"/>
              <a:sym typeface="Poppins"/>
            </a:endParaRPr>
          </a:p>
          <a:p>
            <a:pPr indent="0" lvl="0" marL="0" rtl="0" algn="l">
              <a:spcBef>
                <a:spcPts val="0"/>
              </a:spcBef>
              <a:spcAft>
                <a:spcPts val="0"/>
              </a:spcAft>
              <a:buNone/>
            </a:pPr>
            <a:r>
              <a:rPr b="1" lang="en" sz="900">
                <a:solidFill>
                  <a:srgbClr val="434343"/>
                </a:solidFill>
                <a:latin typeface="Poppins"/>
                <a:ea typeface="Poppins"/>
                <a:cs typeface="Poppins"/>
                <a:sym typeface="Poppins"/>
              </a:rPr>
              <a:t>Email marketing is the most effective channel,</a:t>
            </a:r>
            <a:r>
              <a:rPr lang="en" sz="900">
                <a:solidFill>
                  <a:srgbClr val="434343"/>
                </a:solidFill>
                <a:latin typeface="Poppins"/>
                <a:ea typeface="Poppins"/>
                <a:cs typeface="Poppins"/>
                <a:sym typeface="Poppins"/>
              </a:rPr>
              <a:t> showing the highest AOV, RPV, eCVR, and session duration after organic search. We should focus on capturing more leads and consider being more aggressive with this strategy.</a:t>
            </a:r>
            <a:endParaRPr sz="900">
              <a:solidFill>
                <a:srgbClr val="434343"/>
              </a:solidFill>
              <a:latin typeface="Poppins"/>
              <a:ea typeface="Poppins"/>
              <a:cs typeface="Poppins"/>
              <a:sym typeface="Poppins"/>
            </a:endParaRPr>
          </a:p>
          <a:p>
            <a:pPr indent="0" lvl="0" marL="0" rtl="0" algn="l">
              <a:spcBef>
                <a:spcPts val="0"/>
              </a:spcBef>
              <a:spcAft>
                <a:spcPts val="0"/>
              </a:spcAft>
              <a:buNone/>
            </a:pPr>
            <a:r>
              <a:t/>
            </a:r>
            <a:endParaRPr sz="900">
              <a:solidFill>
                <a:srgbClr val="434343"/>
              </a:solidFill>
              <a:latin typeface="Poppins"/>
              <a:ea typeface="Poppins"/>
              <a:cs typeface="Poppins"/>
              <a:sym typeface="Poppins"/>
            </a:endParaRPr>
          </a:p>
          <a:p>
            <a:pPr indent="0" lvl="0" marL="0" rtl="0" algn="l">
              <a:spcBef>
                <a:spcPts val="0"/>
              </a:spcBef>
              <a:spcAft>
                <a:spcPts val="0"/>
              </a:spcAft>
              <a:buNone/>
            </a:pPr>
            <a:r>
              <a:rPr lang="en" sz="900">
                <a:solidFill>
                  <a:srgbClr val="434343"/>
                </a:solidFill>
                <a:latin typeface="Poppins"/>
                <a:ea typeface="Poppins"/>
                <a:cs typeface="Poppins"/>
                <a:sym typeface="Poppins"/>
              </a:rPr>
              <a:t>Paid search shows the second-lowest RPV and eCVR, </a:t>
            </a:r>
            <a:r>
              <a:rPr b="1" lang="en" sz="900">
                <a:solidFill>
                  <a:srgbClr val="434343"/>
                </a:solidFill>
                <a:latin typeface="Poppins"/>
                <a:ea typeface="Poppins"/>
                <a:cs typeface="Poppins"/>
                <a:sym typeface="Poppins"/>
              </a:rPr>
              <a:t>in contrast to paid shopping, </a:t>
            </a:r>
            <a:r>
              <a:rPr lang="en" sz="900">
                <a:solidFill>
                  <a:srgbClr val="434343"/>
                </a:solidFill>
                <a:latin typeface="Poppins"/>
                <a:ea typeface="Poppins"/>
                <a:cs typeface="Poppins"/>
                <a:sym typeface="Poppins"/>
              </a:rPr>
              <a:t>which performs over 2x better.</a:t>
            </a:r>
            <a:endParaRPr sz="900">
              <a:solidFill>
                <a:srgbClr val="434343"/>
              </a:solidFill>
              <a:latin typeface="Poppins"/>
              <a:ea typeface="Poppins"/>
              <a:cs typeface="Poppins"/>
              <a:sym typeface="Poppins"/>
            </a:endParaRPr>
          </a:p>
          <a:p>
            <a:pPr indent="0" lvl="0" marL="0" rtl="0" algn="l">
              <a:spcBef>
                <a:spcPts val="0"/>
              </a:spcBef>
              <a:spcAft>
                <a:spcPts val="0"/>
              </a:spcAft>
              <a:buNone/>
            </a:pPr>
            <a:r>
              <a:t/>
            </a:r>
            <a:endParaRPr sz="900">
              <a:solidFill>
                <a:srgbClr val="434343"/>
              </a:solidFill>
              <a:latin typeface="Poppins"/>
              <a:ea typeface="Poppins"/>
              <a:cs typeface="Poppins"/>
              <a:sym typeface="Poppins"/>
            </a:endParaRPr>
          </a:p>
          <a:p>
            <a:pPr indent="0" lvl="0" marL="0" rtl="0" algn="l">
              <a:spcBef>
                <a:spcPts val="0"/>
              </a:spcBef>
              <a:spcAft>
                <a:spcPts val="0"/>
              </a:spcAft>
              <a:buNone/>
            </a:pPr>
            <a:r>
              <a:rPr lang="en" sz="900">
                <a:solidFill>
                  <a:srgbClr val="434343"/>
                </a:solidFill>
                <a:latin typeface="Poppins"/>
                <a:ea typeface="Poppins"/>
                <a:cs typeface="Poppins"/>
                <a:sym typeface="Poppins"/>
              </a:rPr>
              <a:t>Organic search brings in fewer users, but with strong session duration, highlighting the value of investing in SEO.</a:t>
            </a:r>
            <a:endParaRPr sz="900">
              <a:solidFill>
                <a:srgbClr val="434343"/>
              </a:solidFill>
              <a:latin typeface="Poppins"/>
              <a:ea typeface="Poppins"/>
              <a:cs typeface="Poppins"/>
              <a:sym typeface="Poppins"/>
            </a:endParaRPr>
          </a:p>
        </p:txBody>
      </p:sp>
      <p:sp>
        <p:nvSpPr>
          <p:cNvPr id="191" name="Google Shape;191;p26"/>
          <p:cNvSpPr txBox="1"/>
          <p:nvPr/>
        </p:nvSpPr>
        <p:spPr>
          <a:xfrm>
            <a:off x="235950" y="4772700"/>
            <a:ext cx="77196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600">
                <a:solidFill>
                  <a:srgbClr val="B7B7B7"/>
                </a:solidFill>
                <a:latin typeface="Poppins Light"/>
                <a:ea typeface="Poppins Light"/>
                <a:cs typeface="Poppins Light"/>
                <a:sym typeface="Poppins Light"/>
              </a:rPr>
              <a:t>Source: GA Analytics from May  25- Jul 20  2025</a:t>
            </a:r>
            <a:endParaRPr i="1" sz="600">
              <a:solidFill>
                <a:srgbClr val="B7B7B7"/>
              </a:solidFill>
              <a:latin typeface="Poppins Light"/>
              <a:ea typeface="Poppins Light"/>
              <a:cs typeface="Poppins Light"/>
              <a:sym typeface="Poppins Light"/>
            </a:endParaRPr>
          </a:p>
        </p:txBody>
      </p:sp>
      <p:graphicFrame>
        <p:nvGraphicFramePr>
          <p:cNvPr id="192" name="Google Shape;192;p26"/>
          <p:cNvGraphicFramePr/>
          <p:nvPr/>
        </p:nvGraphicFramePr>
        <p:xfrm>
          <a:off x="326950" y="1619250"/>
          <a:ext cx="3000000" cy="3000000"/>
        </p:xfrm>
        <a:graphic>
          <a:graphicData uri="http://schemas.openxmlformats.org/drawingml/2006/table">
            <a:tbl>
              <a:tblPr>
                <a:noFill/>
                <a:tableStyleId>{0C680069-4265-4CDA-A209-3993535E4D43}</a:tableStyleId>
              </a:tblPr>
              <a:tblGrid>
                <a:gridCol w="1137425"/>
                <a:gridCol w="575975"/>
                <a:gridCol w="691350"/>
                <a:gridCol w="738700"/>
                <a:gridCol w="544025"/>
                <a:gridCol w="557575"/>
                <a:gridCol w="604575"/>
                <a:gridCol w="656425"/>
              </a:tblGrid>
              <a:tr h="392650">
                <a:tc>
                  <a:txBody>
                    <a:bodyPr/>
                    <a:lstStyle/>
                    <a:p>
                      <a:pPr indent="0" lvl="0" marL="0" rtl="0" algn="ctr">
                        <a:lnSpc>
                          <a:spcPct val="115000"/>
                        </a:lnSpc>
                        <a:spcBef>
                          <a:spcPts val="0"/>
                        </a:spcBef>
                        <a:spcAft>
                          <a:spcPts val="0"/>
                        </a:spcAft>
                        <a:buNone/>
                      </a:pPr>
                      <a:r>
                        <a:rPr b="1" lang="en" sz="900">
                          <a:solidFill>
                            <a:srgbClr val="FFFFFF"/>
                          </a:solidFill>
                          <a:latin typeface="Poppins"/>
                          <a:ea typeface="Poppins"/>
                          <a:cs typeface="Poppins"/>
                          <a:sym typeface="Poppins"/>
                        </a:rPr>
                        <a:t>Channel</a:t>
                      </a:r>
                      <a:endParaRPr b="1" sz="900">
                        <a:solidFill>
                          <a:srgbClr val="FFFFFF"/>
                        </a:solidFill>
                        <a:latin typeface="Poppins"/>
                        <a:ea typeface="Poppins"/>
                        <a:cs typeface="Poppins"/>
                        <a:sym typeface="Poppins"/>
                      </a:endParaRPr>
                    </a:p>
                  </a:txBody>
                  <a:tcPr marT="19050" marB="19050" marR="76200" marL="76200" anchor="ctr">
                    <a:lnL cap="flat" cmpd="sng" w="8650">
                      <a:solidFill>
                        <a:srgbClr val="0A314A">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900">
                          <a:solidFill>
                            <a:srgbClr val="FFFFFF"/>
                          </a:solidFill>
                          <a:latin typeface="Poppins"/>
                          <a:ea typeface="Poppins"/>
                          <a:cs typeface="Poppins"/>
                          <a:sym typeface="Poppins"/>
                        </a:rPr>
                        <a:t>%</a:t>
                      </a:r>
                      <a:endParaRPr b="1" sz="9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900">
                          <a:solidFill>
                            <a:srgbClr val="FFFFFF"/>
                          </a:solidFill>
                          <a:latin typeface="Poppins"/>
                          <a:ea typeface="Poppins"/>
                          <a:cs typeface="Poppins"/>
                          <a:sym typeface="Poppins"/>
                        </a:rPr>
                        <a:t>Bounce</a:t>
                      </a:r>
                      <a:endParaRPr b="1" sz="9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900">
                          <a:solidFill>
                            <a:srgbClr val="FFFFFF"/>
                          </a:solidFill>
                          <a:latin typeface="Poppins"/>
                          <a:ea typeface="Poppins"/>
                          <a:cs typeface="Poppins"/>
                          <a:sym typeface="Poppins"/>
                        </a:rPr>
                        <a:t>Session Dur.</a:t>
                      </a:r>
                      <a:endParaRPr b="1" sz="9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900">
                          <a:solidFill>
                            <a:srgbClr val="FFFFFF"/>
                          </a:solidFill>
                          <a:latin typeface="Poppins"/>
                          <a:ea typeface="Poppins"/>
                          <a:cs typeface="Poppins"/>
                          <a:sym typeface="Poppins"/>
                        </a:rPr>
                        <a:t>%</a:t>
                      </a:r>
                      <a:endParaRPr b="1" sz="9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8650">
                      <a:solidFill>
                        <a:srgbClr val="0A314A">
                          <a:alpha val="0"/>
                        </a:srgbClr>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900">
                          <a:solidFill>
                            <a:srgbClr val="FFFFFF"/>
                          </a:solidFill>
                          <a:latin typeface="Poppins"/>
                          <a:ea typeface="Poppins"/>
                          <a:cs typeface="Poppins"/>
                          <a:sym typeface="Poppins"/>
                        </a:rPr>
                        <a:t>eCVR</a:t>
                      </a:r>
                      <a:endParaRPr b="1" sz="9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900">
                          <a:solidFill>
                            <a:srgbClr val="FFFFFF"/>
                          </a:solidFill>
                          <a:latin typeface="Poppins"/>
                          <a:ea typeface="Poppins"/>
                          <a:cs typeface="Poppins"/>
                          <a:sym typeface="Poppins"/>
                        </a:rPr>
                        <a:t>RPV</a:t>
                      </a:r>
                      <a:endParaRPr b="1" sz="9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D4162">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c>
                  <a:txBody>
                    <a:bodyPr/>
                    <a:lstStyle/>
                    <a:p>
                      <a:pPr indent="0" lvl="0" marL="0" rtl="0" algn="ctr">
                        <a:lnSpc>
                          <a:spcPct val="115000"/>
                        </a:lnSpc>
                        <a:spcBef>
                          <a:spcPts val="0"/>
                        </a:spcBef>
                        <a:spcAft>
                          <a:spcPts val="0"/>
                        </a:spcAft>
                        <a:buNone/>
                      </a:pPr>
                      <a:r>
                        <a:rPr b="1" lang="en" sz="900">
                          <a:solidFill>
                            <a:srgbClr val="FFFFFF"/>
                          </a:solidFill>
                          <a:latin typeface="Poppins"/>
                          <a:ea typeface="Poppins"/>
                          <a:cs typeface="Poppins"/>
                          <a:sym typeface="Poppins"/>
                        </a:rPr>
                        <a:t>AoV</a:t>
                      </a:r>
                      <a:endParaRPr b="1" sz="900">
                        <a:solidFill>
                          <a:srgbClr val="FFFFFF"/>
                        </a:solidFill>
                        <a:latin typeface="Poppins"/>
                        <a:ea typeface="Poppins"/>
                        <a:cs typeface="Poppins"/>
                        <a:sym typeface="Poppins"/>
                      </a:endParaRPr>
                    </a:p>
                  </a:txBody>
                  <a:tcPr marT="19050" marB="19050" marR="76200" marL="76200" anchor="ctr">
                    <a:lnL cap="flat" cmpd="sng" w="8650">
                      <a:solidFill>
                        <a:srgbClr val="0D4162">
                          <a:alpha val="0"/>
                        </a:srgbClr>
                      </a:solidFill>
                      <a:prstDash val="solid"/>
                      <a:round/>
                      <a:headEnd len="sm" w="sm" type="none"/>
                      <a:tailEnd len="sm" w="sm" type="none"/>
                    </a:lnL>
                    <a:lnR cap="flat" cmpd="sng" w="8650">
                      <a:solidFill>
                        <a:srgbClr val="0A314A">
                          <a:alpha val="0"/>
                        </a:srgbClr>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9525">
                      <a:solidFill>
                        <a:srgbClr val="0A314A"/>
                      </a:solidFill>
                      <a:prstDash val="solid"/>
                      <a:round/>
                      <a:headEnd len="sm" w="sm" type="none"/>
                      <a:tailEnd len="sm" w="sm" type="none"/>
                    </a:lnB>
                    <a:solidFill>
                      <a:srgbClr val="0D4162"/>
                    </a:solidFill>
                  </a:tcPr>
                </a:tc>
              </a:tr>
              <a:tr h="337000">
                <a:tc>
                  <a:txBody>
                    <a:bodyPr/>
                    <a:lstStyle/>
                    <a:p>
                      <a:pPr indent="0" lvl="0" marL="0" rtl="0" algn="l">
                        <a:lnSpc>
                          <a:spcPct val="115000"/>
                        </a:lnSpc>
                        <a:spcBef>
                          <a:spcPts val="0"/>
                        </a:spcBef>
                        <a:spcAft>
                          <a:spcPts val="0"/>
                        </a:spcAft>
                        <a:buNone/>
                      </a:pPr>
                      <a:r>
                        <a:rPr lang="en" sz="1000">
                          <a:solidFill>
                            <a:srgbClr val="434343"/>
                          </a:solidFill>
                          <a:latin typeface="Poppins"/>
                          <a:ea typeface="Poppins"/>
                          <a:cs typeface="Poppins"/>
                          <a:sym typeface="Poppins"/>
                        </a:rPr>
                        <a:t>Referral</a:t>
                      </a:r>
                      <a:endParaRPr sz="1000">
                        <a:solidFill>
                          <a:srgbClr val="434343"/>
                        </a:solidFill>
                        <a:latin typeface="Poppins"/>
                        <a:ea typeface="Poppins"/>
                        <a:cs typeface="Poppins"/>
                        <a:sym typeface="Poppins"/>
                      </a:endParaRPr>
                    </a:p>
                  </a:txBody>
                  <a:tcPr marT="19050" marB="19050" marR="76200" marL="76200" anchor="ctr">
                    <a:lnL cap="flat" cmpd="sng" w="9525">
                      <a:solidFill>
                        <a:srgbClr val="0A314A"/>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31.8%</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3.76%</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0m 59s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12.1%</a:t>
                      </a:r>
                      <a:endParaRPr sz="1000">
                        <a:solidFill>
                          <a:schemeClr val="dk1"/>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8650">
                      <a:solidFill>
                        <a:srgbClr val="0A314A">
                          <a:alpha val="0"/>
                        </a:srgbClr>
                      </a:solidFill>
                      <a:prstDash val="solid"/>
                      <a:round/>
                      <a:headEnd len="sm" w="sm" type="none"/>
                      <a:tailEnd len="sm" w="sm" type="none"/>
                    </a:lnT>
                    <a:lnB cap="flat" cmpd="sng" w="8650">
                      <a:solidFill>
                        <a:srgbClr val="F6F8F9">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0.12%</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$0.11</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$90.21</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0A314A"/>
                      </a:solidFill>
                      <a:prstDash val="solid"/>
                      <a:round/>
                      <a:headEnd len="sm" w="sm" type="none"/>
                      <a:tailEnd len="sm" w="sm" type="none"/>
                    </a:lnR>
                    <a:lnT cap="flat" cmpd="sng" w="9525">
                      <a:solidFill>
                        <a:srgbClr val="0A314A"/>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37000">
                <a:tc>
                  <a:txBody>
                    <a:bodyPr/>
                    <a:lstStyle/>
                    <a:p>
                      <a:pPr indent="0" lvl="0" marL="0" rtl="0" algn="l">
                        <a:lnSpc>
                          <a:spcPct val="115000"/>
                        </a:lnSpc>
                        <a:spcBef>
                          <a:spcPts val="0"/>
                        </a:spcBef>
                        <a:spcAft>
                          <a:spcPts val="0"/>
                        </a:spcAft>
                        <a:buNone/>
                      </a:pPr>
                      <a:r>
                        <a:rPr lang="en" sz="1000">
                          <a:solidFill>
                            <a:srgbClr val="434343"/>
                          </a:solidFill>
                          <a:latin typeface="Poppins"/>
                          <a:ea typeface="Poppins"/>
                          <a:cs typeface="Poppins"/>
                          <a:sym typeface="Poppins"/>
                        </a:rPr>
                        <a:t>Cross-network</a:t>
                      </a:r>
                      <a:endParaRPr sz="1000">
                        <a:solidFill>
                          <a:srgbClr val="434343"/>
                        </a:solidFill>
                        <a:latin typeface="Poppins"/>
                        <a:ea typeface="Poppins"/>
                        <a:cs typeface="Poppins"/>
                        <a:sym typeface="Poppins"/>
                      </a:endParaRPr>
                    </a:p>
                  </a:txBody>
                  <a:tcPr marT="19050" marB="19050" marR="76200" marL="76200" anchor="ctr">
                    <a:lnL cap="flat" cmpd="sng" w="9525">
                      <a:solidFill>
                        <a:srgbClr val="0A314A"/>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16.7%</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6.03%</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2m 43s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38.1%</a:t>
                      </a:r>
                      <a:endParaRPr sz="1000">
                        <a:solidFill>
                          <a:schemeClr val="dk1"/>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8650">
                      <a:solidFill>
                        <a:srgbClr val="F6F8F9">
                          <a:alpha val="0"/>
                        </a:srgbClr>
                      </a:solidFill>
                      <a:prstDash val="solid"/>
                      <a:round/>
                      <a:headEnd len="sm" w="sm" type="none"/>
                      <a:tailEnd len="sm" w="sm" type="none"/>
                    </a:lnT>
                    <a:lnB cap="flat" cmpd="sng" w="8650">
                      <a:solidFill>
                        <a:srgbClr val="F6F8F9">
                          <a:alpha val="0"/>
                        </a:srgbClr>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2.76%</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$2.62</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$95.08</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0A314A"/>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37000">
                <a:tc>
                  <a:txBody>
                    <a:bodyPr/>
                    <a:lstStyle/>
                    <a:p>
                      <a:pPr indent="0" lvl="0" marL="0" rtl="0" algn="l">
                        <a:lnSpc>
                          <a:spcPct val="115000"/>
                        </a:lnSpc>
                        <a:spcBef>
                          <a:spcPts val="0"/>
                        </a:spcBef>
                        <a:spcAft>
                          <a:spcPts val="0"/>
                        </a:spcAft>
                        <a:buNone/>
                      </a:pPr>
                      <a:r>
                        <a:rPr lang="en" sz="1000">
                          <a:solidFill>
                            <a:srgbClr val="434343"/>
                          </a:solidFill>
                          <a:latin typeface="Poppins"/>
                          <a:ea typeface="Poppins"/>
                          <a:cs typeface="Poppins"/>
                          <a:sym typeface="Poppins"/>
                        </a:rPr>
                        <a:t>Paid Shopping</a:t>
                      </a:r>
                      <a:endParaRPr sz="1000">
                        <a:solidFill>
                          <a:srgbClr val="434343"/>
                        </a:solidFill>
                        <a:latin typeface="Poppins"/>
                        <a:ea typeface="Poppins"/>
                        <a:cs typeface="Poppins"/>
                        <a:sym typeface="Poppins"/>
                      </a:endParaRPr>
                    </a:p>
                  </a:txBody>
                  <a:tcPr marT="19050" marB="19050" marR="76200" marL="76200" anchor="ctr">
                    <a:lnL cap="flat" cmpd="sng" w="9525">
                      <a:solidFill>
                        <a:srgbClr val="0A314A"/>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11.5%</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3.99%</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3m 3s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5.0%</a:t>
                      </a:r>
                      <a:endParaRPr sz="1000">
                        <a:solidFill>
                          <a:schemeClr val="dk1"/>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8650">
                      <a:solidFill>
                        <a:srgbClr val="F6F8F9">
                          <a:alpha val="0"/>
                        </a:srgbClr>
                      </a:solidFill>
                      <a:prstDash val="solid"/>
                      <a:round/>
                      <a:headEnd len="sm" w="sm" type="none"/>
                      <a:tailEnd len="sm" w="sm" type="none"/>
                    </a:lnT>
                    <a:lnB cap="flat" cmpd="sng" w="8650">
                      <a:solidFill>
                        <a:srgbClr val="F6F8F9">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2.65%</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$2.66</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$100.48</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0A314A"/>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37000">
                <a:tc>
                  <a:txBody>
                    <a:bodyPr/>
                    <a:lstStyle/>
                    <a:p>
                      <a:pPr indent="0" lvl="0" marL="0" rtl="0" algn="l">
                        <a:lnSpc>
                          <a:spcPct val="115000"/>
                        </a:lnSpc>
                        <a:spcBef>
                          <a:spcPts val="0"/>
                        </a:spcBef>
                        <a:spcAft>
                          <a:spcPts val="0"/>
                        </a:spcAft>
                        <a:buNone/>
                      </a:pPr>
                      <a:r>
                        <a:rPr lang="en" sz="1000">
                          <a:solidFill>
                            <a:srgbClr val="434343"/>
                          </a:solidFill>
                          <a:latin typeface="Poppins"/>
                          <a:ea typeface="Poppins"/>
                          <a:cs typeface="Poppins"/>
                          <a:sym typeface="Poppins"/>
                        </a:rPr>
                        <a:t>Direct</a:t>
                      </a:r>
                      <a:endParaRPr sz="1000">
                        <a:solidFill>
                          <a:srgbClr val="434343"/>
                        </a:solidFill>
                        <a:latin typeface="Poppins"/>
                        <a:ea typeface="Poppins"/>
                        <a:cs typeface="Poppins"/>
                        <a:sym typeface="Poppins"/>
                      </a:endParaRPr>
                    </a:p>
                  </a:txBody>
                  <a:tcPr marT="19050" marB="19050" marR="76200" marL="76200" anchor="ctr">
                    <a:lnL cap="flat" cmpd="sng" w="9525">
                      <a:solidFill>
                        <a:srgbClr val="0A314A"/>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10.9%</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12.00%</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2m 12s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6.4%</a:t>
                      </a:r>
                      <a:endParaRPr sz="1000">
                        <a:solidFill>
                          <a:schemeClr val="dk1"/>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8650">
                      <a:solidFill>
                        <a:srgbClr val="F6F8F9">
                          <a:alpha val="0"/>
                        </a:srgbClr>
                      </a:solidFill>
                      <a:prstDash val="solid"/>
                      <a:round/>
                      <a:headEnd len="sm" w="sm" type="none"/>
                      <a:tailEnd len="sm" w="sm" type="none"/>
                    </a:lnT>
                    <a:lnB cap="flat" cmpd="sng" w="8650">
                      <a:solidFill>
                        <a:srgbClr val="F6F8F9">
                          <a:alpha val="0"/>
                        </a:srgbClr>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4.00%</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$4.51</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$112.64</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0A314A"/>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37000">
                <a:tc>
                  <a:txBody>
                    <a:bodyPr/>
                    <a:lstStyle/>
                    <a:p>
                      <a:pPr indent="0" lvl="0" marL="0" rtl="0" algn="l">
                        <a:lnSpc>
                          <a:spcPct val="115000"/>
                        </a:lnSpc>
                        <a:spcBef>
                          <a:spcPts val="0"/>
                        </a:spcBef>
                        <a:spcAft>
                          <a:spcPts val="0"/>
                        </a:spcAft>
                        <a:buNone/>
                      </a:pPr>
                      <a:r>
                        <a:rPr lang="en" sz="1000">
                          <a:solidFill>
                            <a:srgbClr val="434343"/>
                          </a:solidFill>
                          <a:latin typeface="Poppins"/>
                          <a:ea typeface="Poppins"/>
                          <a:cs typeface="Poppins"/>
                          <a:sym typeface="Poppins"/>
                        </a:rPr>
                        <a:t>Paid Search</a:t>
                      </a:r>
                      <a:endParaRPr sz="1000">
                        <a:solidFill>
                          <a:srgbClr val="434343"/>
                        </a:solidFill>
                        <a:latin typeface="Poppins"/>
                        <a:ea typeface="Poppins"/>
                        <a:cs typeface="Poppins"/>
                        <a:sym typeface="Poppins"/>
                      </a:endParaRPr>
                    </a:p>
                  </a:txBody>
                  <a:tcPr marT="19050" marB="19050" marR="76200" marL="76200" anchor="ctr">
                    <a:lnL cap="flat" cmpd="sng" w="9525">
                      <a:solidFill>
                        <a:srgbClr val="0A314A"/>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9.2%</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7.58%</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1m 34s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10.1%</a:t>
                      </a:r>
                      <a:endParaRPr sz="1000">
                        <a:solidFill>
                          <a:schemeClr val="dk1"/>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8650">
                      <a:solidFill>
                        <a:srgbClr val="F6F8F9">
                          <a:alpha val="0"/>
                        </a:srgbClr>
                      </a:solidFill>
                      <a:prstDash val="solid"/>
                      <a:round/>
                      <a:headEnd len="sm" w="sm" type="none"/>
                      <a:tailEnd len="sm" w="sm" type="none"/>
                    </a:lnT>
                    <a:lnB cap="flat" cmpd="sng" w="8650">
                      <a:solidFill>
                        <a:srgbClr val="F6F8F9">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0.53%</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$0.60</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$112.29</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0A314A"/>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37000">
                <a:tc>
                  <a:txBody>
                    <a:bodyPr/>
                    <a:lstStyle/>
                    <a:p>
                      <a:pPr indent="0" lvl="0" marL="0" rtl="0" algn="l">
                        <a:lnSpc>
                          <a:spcPct val="115000"/>
                        </a:lnSpc>
                        <a:spcBef>
                          <a:spcPts val="0"/>
                        </a:spcBef>
                        <a:spcAft>
                          <a:spcPts val="0"/>
                        </a:spcAft>
                        <a:buNone/>
                      </a:pPr>
                      <a:r>
                        <a:rPr lang="en" sz="1000">
                          <a:solidFill>
                            <a:srgbClr val="434343"/>
                          </a:solidFill>
                          <a:latin typeface="Poppins"/>
                          <a:ea typeface="Poppins"/>
                          <a:cs typeface="Poppins"/>
                          <a:sym typeface="Poppins"/>
                        </a:rPr>
                        <a:t>Email</a:t>
                      </a:r>
                      <a:endParaRPr sz="1000">
                        <a:solidFill>
                          <a:srgbClr val="434343"/>
                        </a:solidFill>
                        <a:latin typeface="Poppins"/>
                        <a:ea typeface="Poppins"/>
                        <a:cs typeface="Poppins"/>
                        <a:sym typeface="Poppins"/>
                      </a:endParaRPr>
                    </a:p>
                  </a:txBody>
                  <a:tcPr marT="19050" marB="19050" marR="76200" marL="76200" anchor="ctr">
                    <a:lnL cap="flat" cmpd="sng" w="9525">
                      <a:solidFill>
                        <a:srgbClr val="0A314A"/>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6.9%</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8.48%</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3m 22s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9.6%</a:t>
                      </a:r>
                      <a:endParaRPr sz="1000">
                        <a:solidFill>
                          <a:schemeClr val="dk1"/>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8650">
                      <a:solidFill>
                        <a:srgbClr val="F6F8F9">
                          <a:alpha val="0"/>
                        </a:srgbClr>
                      </a:solidFill>
                      <a:prstDash val="solid"/>
                      <a:round/>
                      <a:headEnd len="sm" w="sm" type="none"/>
                      <a:tailEnd len="sm" w="sm" type="none"/>
                    </a:lnT>
                    <a:lnB cap="flat" cmpd="sng" w="8650">
                      <a:solidFill>
                        <a:srgbClr val="F6F8F9">
                          <a:alpha val="0"/>
                        </a:srgbClr>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8.22%</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$9.49</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$115.48</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0A314A"/>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37000">
                <a:tc>
                  <a:txBody>
                    <a:bodyPr/>
                    <a:lstStyle/>
                    <a:p>
                      <a:pPr indent="0" lvl="0" marL="0" rtl="0" algn="l">
                        <a:lnSpc>
                          <a:spcPct val="115000"/>
                        </a:lnSpc>
                        <a:spcBef>
                          <a:spcPts val="0"/>
                        </a:spcBef>
                        <a:spcAft>
                          <a:spcPts val="0"/>
                        </a:spcAft>
                        <a:buNone/>
                      </a:pPr>
                      <a:r>
                        <a:rPr lang="en" sz="1000">
                          <a:solidFill>
                            <a:srgbClr val="434343"/>
                          </a:solidFill>
                          <a:latin typeface="Poppins"/>
                          <a:ea typeface="Poppins"/>
                          <a:cs typeface="Poppins"/>
                          <a:sym typeface="Poppins"/>
                        </a:rPr>
                        <a:t>Organic Search</a:t>
                      </a:r>
                      <a:endParaRPr sz="1000">
                        <a:solidFill>
                          <a:srgbClr val="434343"/>
                        </a:solidFill>
                        <a:latin typeface="Poppins"/>
                        <a:ea typeface="Poppins"/>
                        <a:cs typeface="Poppins"/>
                        <a:sym typeface="Poppins"/>
                      </a:endParaRPr>
                    </a:p>
                  </a:txBody>
                  <a:tcPr marT="19050" marB="19050" marR="76200" marL="76200" anchor="ctr">
                    <a:lnL cap="flat" cmpd="sng" w="9525">
                      <a:solidFill>
                        <a:srgbClr val="0A314A"/>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5.9%</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10.85%</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4m 17s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6.0%</a:t>
                      </a:r>
                      <a:endParaRPr sz="1000">
                        <a:solidFill>
                          <a:schemeClr val="dk1"/>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8650">
                      <a:solidFill>
                        <a:srgbClr val="F6F8F9">
                          <a:alpha val="0"/>
                        </a:srgbClr>
                      </a:solidFill>
                      <a:prstDash val="solid"/>
                      <a:round/>
                      <a:headEnd len="sm" w="sm" type="none"/>
                      <a:tailEnd len="sm" w="sm" type="none"/>
                    </a:lnT>
                    <a:lnB cap="flat" cmpd="sng" w="8650">
                      <a:solidFill>
                        <a:srgbClr val="F6F8F9">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3.67%</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$3.91</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$106.53</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0A314A"/>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37000">
                <a:tc>
                  <a:txBody>
                    <a:bodyPr/>
                    <a:lstStyle/>
                    <a:p>
                      <a:pPr indent="0" lvl="0" marL="0" rtl="0" algn="l">
                        <a:lnSpc>
                          <a:spcPct val="115000"/>
                        </a:lnSpc>
                        <a:spcBef>
                          <a:spcPts val="0"/>
                        </a:spcBef>
                        <a:spcAft>
                          <a:spcPts val="0"/>
                        </a:spcAft>
                        <a:buNone/>
                      </a:pPr>
                      <a:r>
                        <a:rPr lang="en" sz="1000">
                          <a:solidFill>
                            <a:srgbClr val="434343"/>
                          </a:solidFill>
                          <a:latin typeface="Poppins"/>
                          <a:ea typeface="Poppins"/>
                          <a:cs typeface="Poppins"/>
                          <a:sym typeface="Poppins"/>
                        </a:rPr>
                        <a:t>Affiliates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0A314A"/>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3.0%</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6.69%</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3m 49s</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7.3%</a:t>
                      </a:r>
                      <a:endParaRPr sz="1000">
                        <a:solidFill>
                          <a:schemeClr val="dk1"/>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8650">
                      <a:solidFill>
                        <a:srgbClr val="F6F8F9">
                          <a:alpha val="0"/>
                        </a:srgbClr>
                      </a:solidFill>
                      <a:prstDash val="solid"/>
                      <a:round/>
                      <a:headEnd len="sm" w="sm" type="none"/>
                      <a:tailEnd len="sm" w="sm" type="none"/>
                    </a:lnT>
                    <a:lnB cap="flat" cmpd="sng" w="8650">
                      <a:solidFill>
                        <a:srgbClr val="0A314A">
                          <a:alpha val="0"/>
                        </a:srgbClr>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3.62%</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$2.91</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ctr">
                        <a:lnSpc>
                          <a:spcPct val="115000"/>
                        </a:lnSpc>
                        <a:spcBef>
                          <a:spcPts val="0"/>
                        </a:spcBef>
                        <a:spcAft>
                          <a:spcPts val="0"/>
                        </a:spcAft>
                        <a:buNone/>
                      </a:pPr>
                      <a:r>
                        <a:rPr lang="en" sz="1000">
                          <a:solidFill>
                            <a:srgbClr val="434343"/>
                          </a:solidFill>
                          <a:latin typeface="Poppins"/>
                          <a:ea typeface="Poppins"/>
                          <a:cs typeface="Poppins"/>
                          <a:sym typeface="Poppins"/>
                        </a:rPr>
                        <a:t>$80.34</a:t>
                      </a:r>
                      <a:endParaRPr sz="1000">
                        <a:solidFill>
                          <a:srgbClr val="434343"/>
                        </a:solidFill>
                        <a:latin typeface="Poppins"/>
                        <a:ea typeface="Poppins"/>
                        <a:cs typeface="Poppins"/>
                        <a:sym typeface="Poppins"/>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0A314A"/>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bl>
          </a:graphicData>
        </a:graphic>
      </p:graphicFrame>
      <p:sp>
        <p:nvSpPr>
          <p:cNvPr id="193" name="Google Shape;193;p26"/>
          <p:cNvSpPr/>
          <p:nvPr/>
        </p:nvSpPr>
        <p:spPr>
          <a:xfrm>
            <a:off x="326950" y="3696900"/>
            <a:ext cx="5506200" cy="336900"/>
          </a:xfrm>
          <a:prstGeom prst="rect">
            <a:avLst/>
          </a:prstGeom>
          <a:solidFill>
            <a:srgbClr val="16C089">
              <a:alpha val="31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000">
              <a:solidFill>
                <a:schemeClr val="lt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p:nvPr/>
        </p:nvSpPr>
        <p:spPr>
          <a:xfrm>
            <a:off x="465875" y="3209925"/>
            <a:ext cx="8286600" cy="785400"/>
          </a:xfrm>
          <a:prstGeom prst="roundRect">
            <a:avLst>
              <a:gd fmla="val 3826" name="adj"/>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7"/>
          <p:cNvSpPr txBox="1"/>
          <p:nvPr/>
        </p:nvSpPr>
        <p:spPr>
          <a:xfrm>
            <a:off x="513000" y="3365920"/>
            <a:ext cx="811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434343"/>
                </a:solidFill>
                <a:latin typeface="Poppins"/>
                <a:ea typeface="Poppins"/>
                <a:cs typeface="Poppins"/>
                <a:sym typeface="Poppins"/>
              </a:rPr>
              <a:t>We should focus on attracting more returning users, as the current percentage of returning users is very low. Implementing more remarketing strategies, enhancing CRM, and possibly introducing loyalty programs could be beneficial.</a:t>
            </a:r>
            <a:endParaRPr sz="900">
              <a:solidFill>
                <a:srgbClr val="434343"/>
              </a:solidFill>
              <a:latin typeface="Poppins"/>
              <a:ea typeface="Poppins"/>
              <a:cs typeface="Poppins"/>
              <a:sym typeface="Poppins"/>
            </a:endParaRPr>
          </a:p>
        </p:txBody>
      </p:sp>
      <p:sp>
        <p:nvSpPr>
          <p:cNvPr id="200" name="Google Shape;200;p27"/>
          <p:cNvSpPr/>
          <p:nvPr/>
        </p:nvSpPr>
        <p:spPr>
          <a:xfrm>
            <a:off x="465875" y="1564500"/>
            <a:ext cx="8286600" cy="1420500"/>
          </a:xfrm>
          <a:prstGeom prst="roundRect">
            <a:avLst>
              <a:gd fmla="val 2333" name="adj"/>
            </a:avLst>
          </a:prstGeom>
          <a:solidFill>
            <a:srgbClr val="FFFFFF"/>
          </a:solidFill>
          <a:ln>
            <a:noFill/>
          </a:ln>
          <a:effectLst>
            <a:outerShdw blurRad="171450" rotWithShape="0" algn="bl" dir="5400000" dist="19050">
              <a:srgbClr val="000000">
                <a:alpha val="1882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7"/>
          <p:cNvSpPr txBox="1"/>
          <p:nvPr>
            <p:ph type="title"/>
          </p:nvPr>
        </p:nvSpPr>
        <p:spPr>
          <a:xfrm>
            <a:off x="311700" y="215075"/>
            <a:ext cx="8651700" cy="7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D4162"/>
                </a:solidFill>
                <a:latin typeface="Outfit ExtraBold"/>
                <a:ea typeface="Outfit ExtraBold"/>
                <a:cs typeface="Outfit ExtraBold"/>
                <a:sym typeface="Outfit ExtraBold"/>
              </a:rPr>
              <a:t>The vast majority of the audience belongs to the new user category (91%) rather than returning users, but returning users bring +71% conversion</a:t>
            </a:r>
            <a:endParaRPr sz="2500">
              <a:solidFill>
                <a:srgbClr val="0D4162"/>
              </a:solidFill>
              <a:latin typeface="Outfit ExtraBold"/>
              <a:ea typeface="Outfit ExtraBold"/>
              <a:cs typeface="Outfit ExtraBold"/>
              <a:sym typeface="Outfit ExtraBold"/>
            </a:endParaRPr>
          </a:p>
        </p:txBody>
      </p:sp>
      <p:sp>
        <p:nvSpPr>
          <p:cNvPr id="202" name="Google Shape;202;p27"/>
          <p:cNvSpPr/>
          <p:nvPr/>
        </p:nvSpPr>
        <p:spPr>
          <a:xfrm>
            <a:off x="2221600" y="1967925"/>
            <a:ext cx="446400" cy="163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p:nvPr/>
        </p:nvSpPr>
        <p:spPr>
          <a:xfrm>
            <a:off x="2221600" y="1728325"/>
            <a:ext cx="446400" cy="163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04" name="Google Shape;204;p27"/>
          <p:cNvGraphicFramePr/>
          <p:nvPr/>
        </p:nvGraphicFramePr>
        <p:xfrm>
          <a:off x="619125" y="1722100"/>
          <a:ext cx="3000000" cy="3000000"/>
        </p:xfrm>
        <a:graphic>
          <a:graphicData uri="http://schemas.openxmlformats.org/drawingml/2006/table">
            <a:tbl>
              <a:tblPr>
                <a:noFill/>
                <a:tableStyleId>{0C680069-4265-4CDA-A209-3993535E4D43}</a:tableStyleId>
              </a:tblPr>
              <a:tblGrid>
                <a:gridCol w="1275850"/>
                <a:gridCol w="679325"/>
                <a:gridCol w="850075"/>
                <a:gridCol w="850075"/>
                <a:gridCol w="850075"/>
                <a:gridCol w="967450"/>
                <a:gridCol w="732700"/>
                <a:gridCol w="850075"/>
                <a:gridCol w="850075"/>
              </a:tblGrid>
              <a:tr h="283225">
                <a:tc>
                  <a:txBody>
                    <a:bodyPr/>
                    <a:lstStyle/>
                    <a:p>
                      <a:pPr indent="0" lvl="0" marL="0" rtl="0" algn="l">
                        <a:lnSpc>
                          <a:spcPct val="115000"/>
                        </a:lnSpc>
                        <a:spcBef>
                          <a:spcPts val="0"/>
                        </a:spcBef>
                        <a:spcAft>
                          <a:spcPts val="0"/>
                        </a:spcAft>
                        <a:buNone/>
                      </a:pPr>
                      <a:r>
                        <a:rPr b="1" lang="en" sz="1000">
                          <a:solidFill>
                            <a:srgbClr val="FFFFFF"/>
                          </a:solidFill>
                          <a:latin typeface="Poppins"/>
                          <a:ea typeface="Poppins"/>
                          <a:cs typeface="Poppins"/>
                          <a:sym typeface="Poppins"/>
                        </a:rPr>
                        <a:t>New / established</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Sessions</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 Sessions</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Revenue</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 Revenue</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Transactions</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AoV</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eCVR</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latin typeface="Poppins"/>
                          <a:ea typeface="Poppins"/>
                          <a:cs typeface="Poppins"/>
                          <a:sym typeface="Poppins"/>
                        </a:rPr>
                        <a:t>RPS</a:t>
                      </a:r>
                      <a:endParaRPr b="1" sz="1000">
                        <a:solidFill>
                          <a:srgbClr val="FFFFFF"/>
                        </a:solidFill>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solidFill>
                      <a:srgbClr val="000000"/>
                    </a:solidFill>
                  </a:tcPr>
                </a:tc>
              </a:tr>
              <a:tr h="283225">
                <a:tc>
                  <a:txBody>
                    <a:bodyPr/>
                    <a:lstStyle/>
                    <a:p>
                      <a:pPr indent="0" lvl="0" marL="0" rtl="0" algn="l">
                        <a:lnSpc>
                          <a:spcPct val="115000"/>
                        </a:lnSpc>
                        <a:spcBef>
                          <a:spcPts val="0"/>
                        </a:spcBef>
                        <a:spcAft>
                          <a:spcPts val="0"/>
                        </a:spcAft>
                        <a:buNone/>
                      </a:pPr>
                      <a:r>
                        <a:rPr lang="en" sz="1000">
                          <a:latin typeface="Poppins"/>
                          <a:ea typeface="Poppins"/>
                          <a:cs typeface="Poppins"/>
                          <a:sym typeface="Poppins"/>
                        </a:rPr>
                        <a:t>new</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323,738</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91.4%</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$270,067</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76.1%</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237</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$1,139.52</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0.07%</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$1.20</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83225">
                <a:tc>
                  <a:txBody>
                    <a:bodyPr/>
                    <a:lstStyle/>
                    <a:p>
                      <a:pPr indent="0" lvl="0" marL="0" rtl="0" algn="l">
                        <a:lnSpc>
                          <a:spcPct val="115000"/>
                        </a:lnSpc>
                        <a:spcBef>
                          <a:spcPts val="0"/>
                        </a:spcBef>
                        <a:spcAft>
                          <a:spcPts val="0"/>
                        </a:spcAft>
                        <a:buNone/>
                      </a:pPr>
                      <a:r>
                        <a:rPr lang="en" sz="1000">
                          <a:latin typeface="Poppins"/>
                          <a:ea typeface="Poppins"/>
                          <a:cs typeface="Poppins"/>
                          <a:sym typeface="Poppins"/>
                        </a:rPr>
                        <a:t>established</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30,382</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8.6%</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$84,761</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23.9%</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57</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$1,487.04</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0.19%</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oppins"/>
                          <a:ea typeface="Poppins"/>
                          <a:cs typeface="Poppins"/>
                          <a:sym typeface="Poppins"/>
                        </a:rPr>
                        <a:t>$0.36</a:t>
                      </a:r>
                      <a:endParaRPr sz="1000">
                        <a:latin typeface="Poppins"/>
                        <a:ea typeface="Poppins"/>
                        <a:cs typeface="Poppins"/>
                        <a:sym typeface="Poppi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
        <p:nvSpPr>
          <p:cNvPr id="205" name="Google Shape;205;p27"/>
          <p:cNvSpPr txBox="1"/>
          <p:nvPr/>
        </p:nvSpPr>
        <p:spPr>
          <a:xfrm>
            <a:off x="542925" y="2630023"/>
            <a:ext cx="32433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800">
                <a:latin typeface="Poppins"/>
                <a:ea typeface="Poppins"/>
                <a:cs typeface="Poppins"/>
                <a:sym typeface="Poppins"/>
              </a:rPr>
              <a:t>New vs Returning report</a:t>
            </a:r>
            <a:endParaRPr sz="800">
              <a:latin typeface="Poppins"/>
              <a:ea typeface="Poppins"/>
              <a:cs typeface="Poppins"/>
              <a:sym typeface="Poppins"/>
            </a:endParaRPr>
          </a:p>
        </p:txBody>
      </p:sp>
      <p:sp>
        <p:nvSpPr>
          <p:cNvPr id="206" name="Google Shape;206;p27"/>
          <p:cNvSpPr txBox="1"/>
          <p:nvPr/>
        </p:nvSpPr>
        <p:spPr>
          <a:xfrm>
            <a:off x="356925" y="4835275"/>
            <a:ext cx="7866600" cy="2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600">
                <a:solidFill>
                  <a:srgbClr val="B7B7B7"/>
                </a:solidFill>
                <a:latin typeface="Poppins Light"/>
                <a:ea typeface="Poppins Light"/>
                <a:cs typeface="Poppins Light"/>
                <a:sym typeface="Poppins Light"/>
              </a:rPr>
              <a:t>Source: GA Analytics from Jun 8 - Aug 6, 2024</a:t>
            </a:r>
            <a:endParaRPr i="1" sz="600">
              <a:solidFill>
                <a:srgbClr val="B7B7B7"/>
              </a:solidFill>
              <a:latin typeface="Poppins Light"/>
              <a:ea typeface="Poppins Light"/>
              <a:cs typeface="Poppins Light"/>
              <a:sym typeface="Poppi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